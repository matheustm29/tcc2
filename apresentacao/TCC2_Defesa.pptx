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90cbec64-963c-c1fd-648f-65b946b9c6fd}">
          <p14:sldIdLst>
            <p14:sldId id="256"/>
            <p14:sldId id="257"/>
          </p14:sldIdLst>
        </p14:section>
        <p14:section name="Contexto" id="{a253f1e2-9349-a5df-cda6-1f922734e356}">
          <p14:sldIdLst>
            <p14:sldId id="258"/>
            <p14:sldId id="259"/>
          </p14:sldIdLst>
        </p14:section>
        <p14:section name="Método" id="{0467fd8b-622d-4366-47d0-f6fe05b055ff}">
          <p14:sldIdLst>
            <p14:sldId id="260"/>
            <p14:sldId id="261"/>
          </p14:sldIdLst>
        </p14:section>
        <p14:section name="Resultados" id="{07bda258-07cc-51a3-46e1-9288794f0939}">
          <p14:sldIdLst>
            <p14:sldId id="262"/>
            <p14:sldId id="263"/>
            <p14:sldId id="264"/>
            <p14:sldId id="265"/>
          </p14:sldIdLst>
        </p14:section>
        <p14:section name="Modelagem" id="{f9926976-a3ef-a8b1-5fc7-dbcff6895fdd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Fechamento" id="{488df656-a3e4-f08b-63af-402a5fa03c20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Vou apresentar a análise do Fator Casa na Premier League, cobrindo 11 temporadas e 4.180 partidas.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blocos. A parte central são os resultados e a modelagem.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mecanismo deixa uma assinatura empírica diferente. Arbitragem aparece em cartões; familiaridade e logística, em volume ofensivo. Isso vai permitir separá-los mais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pergunta tem duas partes: a magnitude e os mecanismos. O quinto objetivo é o que entrou agora, no TCC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TCC 1 cobriu as três primeiras fases. Modelagem e Avaliação entraram agora.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achado é metodológico, mas importa: sem ele, o estudo de caso dos estádios reportaria uma queda de quase dois chutes no alvo que seria artefato da planilha.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teste binomial é condicionado aos jogos decididos. A nula do TCC 1 era uniforme entre os três resultados, o que seria rejeitado mesmo num mundo sem fator casa.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qualitativa do TCC 1 se mantém, mas os valores mudaram: antes eram 33,3% e 32,1%, inflados por um filtro que removia justamente as partidas de conversão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conclusão 5.2 da monografia do TCC 1 cai. Não há evidência de que o Big Six dependa menos do mando.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que substitui a comparação com o Big Six, e aponta na direção contrária à intuição.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Numa temporada completa o calendário é balanceado, então o controle por adversário importa menos. Ele se torna decisivo nos recortes menores, como os 92 jogos sem público de 2019/20.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Importante não afirmar queda. 2022/23 está no mesmo patamar de 2016/17. A temporada 2024/25 é um achado novo, sem explicação evidente, e está nos trabalhos futuros.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é essencial não afirmar demais. O TCC 1 dizia que o experimento natural isolava o público como variável causal central. Isso não se sustenta no contraste intratemporada.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achado mais original do trabalho: os dois mecanismos se separam empiricamente.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ausência de vazamento não é declaração: é verificada por teste automatizado.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justificativa empírica para adotar log-loss como métrica principal, e não acurácia. Um modelo mais complexo perdendo para um mais simples, com a razão visível na calibração.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conclusões do TCC 1 mudaram. Isso foi explicitado na monografia, com os números antigos e novos lado a 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2024/25 é a questão mais interessante em aberto — apareceu ao ajustar o modelo por temporada e não estava visível no diferencial bruto.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Fico à disposição para as perguntas da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CONTEUDO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SECAO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7252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a-titulo"/>
          <p:cNvSpPr txBox="1"/>
          <p:nvPr/>
        </p:nvSpPr>
        <p:spPr>
          <a:xfrm>
            <a:off x="731520" y="1508760"/>
            <a:ext cx="8503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3400" b="1" dirty="0">
                <a:solidFill>
                  <a:srgbClr val="17252E"/>
                </a:solidFill>
              </a:rPr>
              <a:t>ANÁLISE ESTATÍSTICA E QUANTITATIVA DO FATOR CASA NA PREMIER LEAGUE NA ERA MODERNA</a:t>
            </a:r>
            <a:endParaRPr lang="en-US" sz="3400" dirty="0"/>
          </a:p>
        </p:txBody>
      </p:sp>
      <p:sp>
        <p:nvSpPr>
          <p:cNvPr id="3" name="capa-marca"/>
          <p:cNvSpPr/>
          <p:nvPr/>
        </p:nvSpPr>
        <p:spPr>
          <a:xfrm>
            <a:off x="731520" y="3401568"/>
            <a:ext cx="1371600" cy="50292"/>
          </a:xfrm>
          <a:prstGeom prst="rect">
            <a:avLst/>
          </a:prstGeom>
          <a:solidFill>
            <a:srgbClr val="FECF07"/>
          </a:solidFill>
          <a:ln w="12700">
            <a:solidFill>
              <a:srgbClr val="FECF07"/>
            </a:solidFill>
            <a:prstDash val="solid"/>
          </a:ln>
        </p:spPr>
      </p:sp>
      <p:sp>
        <p:nvSpPr>
          <p:cNvPr id="4" name="capa-tipo"/>
          <p:cNvSpPr txBox="1"/>
          <p:nvPr/>
        </p:nvSpPr>
        <p:spPr>
          <a:xfrm>
            <a:off x="731520" y="363931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0"/>
                </a:solidFill>
              </a:rPr>
              <a:t>Trabalho de Conclusão de Curso 2</a:t>
            </a:r>
            <a:endParaRPr lang="en-US" sz="1500" dirty="0"/>
          </a:p>
        </p:txBody>
      </p:sp>
      <p:sp>
        <p:nvSpPr>
          <p:cNvPr id="5" name="capa-autoria"/>
          <p:cNvSpPr txBox="1"/>
          <p:nvPr/>
        </p:nvSpPr>
        <p:spPr>
          <a:xfrm>
            <a:off x="731520" y="4078224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B3A45"/>
                </a:solidFill>
              </a:rPr>
              <a:t>Matheus Ferreira Alphonse dos Anjos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3A45"/>
                </a:solidFill>
              </a:rPr>
              <a:t>Orientador: Prof. Dr. Francisco Pereira Junior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2B3A45"/>
                </a:solidFill>
              </a:rPr>
              <a:t>Bacharelado em Engenharia de Computação</a:t>
            </a:r>
            <a:endParaRPr lang="en-US" sz="1600" dirty="0"/>
          </a:p>
        </p:txBody>
      </p:sp>
      <p:sp>
        <p:nvSpPr>
          <p:cNvPr id="6" name="capa-local"/>
          <p:cNvSpPr txBox="1"/>
          <p:nvPr/>
        </p:nvSpPr>
        <p:spPr>
          <a:xfrm>
            <a:off x="731520" y="524865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9C"/>
                </a:solidFill>
              </a:rPr>
              <a:t>Campus Cornélio Procópio ·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Roteiro</a:t>
            </a:r>
            <a:endParaRPr lang="en-US" sz="3000" dirty="0"/>
          </a:p>
        </p:txBody>
      </p:sp>
      <p:sp>
        <p:nvSpPr>
          <p:cNvPr id="3" name="rot-bolha-0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4" name="rot-num-0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rot-t-0"/>
          <p:cNvSpPr txBox="1"/>
          <p:nvPr/>
        </p:nvSpPr>
        <p:spPr>
          <a:xfrm>
            <a:off x="1444752" y="158191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E"/>
                </a:solidFill>
              </a:rPr>
              <a:t>Contexto e problema</a:t>
            </a:r>
            <a:endParaRPr lang="en-US" sz="1700" dirty="0"/>
          </a:p>
        </p:txBody>
      </p:sp>
      <p:sp>
        <p:nvSpPr>
          <p:cNvPr id="6" name="rot-d-0"/>
          <p:cNvSpPr txBox="1"/>
          <p:nvPr/>
        </p:nvSpPr>
        <p:spPr>
          <a:xfrm>
            <a:off x="1444752" y="18379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0"/>
                </a:solidFill>
              </a:rPr>
              <a:t>O fenômeno e por que revisitá-lo</a:t>
            </a:r>
            <a:endParaRPr lang="en-US" sz="1350" dirty="0"/>
          </a:p>
        </p:txBody>
      </p:sp>
      <p:sp>
        <p:nvSpPr>
          <p:cNvPr id="7" name="rot-bolha-1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rot-num-1"/>
          <p:cNvSpPr txBox="1"/>
          <p:nvPr/>
        </p:nvSpPr>
        <p:spPr>
          <a:xfrm>
            <a:off x="731520" y="2404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rot-t-1"/>
          <p:cNvSpPr txBox="1"/>
          <p:nvPr/>
        </p:nvSpPr>
        <p:spPr>
          <a:xfrm>
            <a:off x="1444752" y="23865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E"/>
                </a:solidFill>
              </a:rPr>
              <a:t>Método e dados</a:t>
            </a:r>
            <a:endParaRPr lang="en-US" sz="1700" dirty="0"/>
          </a:p>
        </p:txBody>
      </p:sp>
      <p:sp>
        <p:nvSpPr>
          <p:cNvPr id="10" name="rot-d-1"/>
          <p:cNvSpPr txBox="1"/>
          <p:nvPr/>
        </p:nvSpPr>
        <p:spPr>
          <a:xfrm>
            <a:off x="1444752" y="264261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0"/>
                </a:solidFill>
              </a:rPr>
              <a:t>CRISP-DM, 11 temporadas, 4.180 partidas</a:t>
            </a:r>
            <a:endParaRPr lang="en-US" sz="1350" dirty="0"/>
          </a:p>
        </p:txBody>
      </p:sp>
      <p:sp>
        <p:nvSpPr>
          <p:cNvPr id="11" name="rot-bolha-2"/>
          <p:cNvSpPr/>
          <p:nvPr/>
        </p:nvSpPr>
        <p:spPr>
          <a:xfrm>
            <a:off x="731520" y="3209544"/>
            <a:ext cx="457200" cy="457200"/>
          </a:xfrm>
          <a:prstGeom prst="ellipse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rot-num-2"/>
          <p:cNvSpPr txBox="1"/>
          <p:nvPr/>
        </p:nvSpPr>
        <p:spPr>
          <a:xfrm>
            <a:off x="73152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rot-t-2"/>
          <p:cNvSpPr txBox="1"/>
          <p:nvPr/>
        </p:nvSpPr>
        <p:spPr>
          <a:xfrm>
            <a:off x="1444752" y="3191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E"/>
                </a:solidFill>
              </a:rPr>
              <a:t>Resultados descritivos</a:t>
            </a:r>
            <a:endParaRPr lang="en-US" sz="1700" dirty="0"/>
          </a:p>
        </p:txBody>
      </p:sp>
      <p:sp>
        <p:nvSpPr>
          <p:cNvPr id="14" name="rot-d-2"/>
          <p:cNvSpPr txBox="1"/>
          <p:nvPr/>
        </p:nvSpPr>
        <p:spPr>
          <a:xfrm>
            <a:off x="1444752" y="34472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0"/>
                </a:solidFill>
              </a:rPr>
              <a:t>Magnitude, heterogeneidade e público</a:t>
            </a:r>
            <a:endParaRPr lang="en-US" sz="1350" dirty="0"/>
          </a:p>
        </p:txBody>
      </p:sp>
      <p:sp>
        <p:nvSpPr>
          <p:cNvPr id="15" name="rot-bolha-3"/>
          <p:cNvSpPr/>
          <p:nvPr/>
        </p:nvSpPr>
        <p:spPr>
          <a:xfrm>
            <a:off x="731520" y="4014216"/>
            <a:ext cx="457200" cy="457200"/>
          </a:xfrm>
          <a:prstGeom prst="ellipse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rot-num-3"/>
          <p:cNvSpPr txBox="1"/>
          <p:nvPr/>
        </p:nvSpPr>
        <p:spPr>
          <a:xfrm>
            <a:off x="731520" y="40142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rot-t-3"/>
          <p:cNvSpPr txBox="1"/>
          <p:nvPr/>
        </p:nvSpPr>
        <p:spPr>
          <a:xfrm>
            <a:off x="1444752" y="399592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E"/>
                </a:solidFill>
              </a:rPr>
              <a:t>Modelagem</a:t>
            </a:r>
            <a:endParaRPr lang="en-US" sz="1700" dirty="0"/>
          </a:p>
        </p:txBody>
      </p:sp>
      <p:sp>
        <p:nvSpPr>
          <p:cNvPr id="18" name="rot-d-3"/>
          <p:cNvSpPr txBox="1"/>
          <p:nvPr/>
        </p:nvSpPr>
        <p:spPr>
          <a:xfrm>
            <a:off x="1444752" y="425196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0"/>
                </a:solidFill>
              </a:rPr>
              <a:t>Poisson bivariado e modelos preditivos</a:t>
            </a:r>
            <a:endParaRPr lang="en-US" sz="1350" dirty="0"/>
          </a:p>
        </p:txBody>
      </p:sp>
      <p:sp>
        <p:nvSpPr>
          <p:cNvPr id="19" name="rot-bolha-4"/>
          <p:cNvSpPr/>
          <p:nvPr/>
        </p:nvSpPr>
        <p:spPr>
          <a:xfrm>
            <a:off x="731520" y="4818888"/>
            <a:ext cx="457200" cy="457200"/>
          </a:xfrm>
          <a:prstGeom prst="ellipse">
            <a:avLst/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rot-num-4"/>
          <p:cNvSpPr txBox="1"/>
          <p:nvPr/>
        </p:nvSpPr>
        <p:spPr>
          <a:xfrm>
            <a:off x="731520" y="4818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rot-t-4"/>
          <p:cNvSpPr txBox="1"/>
          <p:nvPr/>
        </p:nvSpPr>
        <p:spPr>
          <a:xfrm>
            <a:off x="1444752" y="48006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52E"/>
                </a:solidFill>
              </a:rPr>
              <a:t>Conclusões</a:t>
            </a:r>
            <a:endParaRPr lang="en-US" sz="1700" dirty="0"/>
          </a:p>
        </p:txBody>
      </p:sp>
      <p:sp>
        <p:nvSpPr>
          <p:cNvPr id="22" name="rot-d-4"/>
          <p:cNvSpPr txBox="1"/>
          <p:nvPr/>
        </p:nvSpPr>
        <p:spPr>
          <a:xfrm>
            <a:off x="1444752" y="50566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670"/>
                </a:solidFill>
              </a:rPr>
              <a:t>Achados, limitações e continuidade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O Fator Casa e seus mecanismos</a:t>
            </a:r>
            <a:endParaRPr lang="en-US" sz="3000" dirty="0"/>
          </a:p>
        </p:txBody>
      </p:sp>
      <p:sp>
        <p:nvSpPr>
          <p:cNvPr id="3" name="intro-mec"/>
          <p:cNvSpPr txBox="1"/>
          <p:nvPr/>
        </p:nvSpPr>
        <p:spPr>
          <a:xfrm>
            <a:off x="731520" y="1481328"/>
            <a:ext cx="9875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670"/>
                </a:solidFill>
              </a:rPr>
              <a:t>Vantagem estatística consistente das equipes mandantes, documentada desde Courneya e Carron (1992). A literatura atribui o fenômeno a quatro mecanismos distintos:</a:t>
            </a:r>
            <a:endParaRPr lang="en-US" sz="1500" dirty="0"/>
          </a:p>
        </p:txBody>
      </p:sp>
      <p:sp>
        <p:nvSpPr>
          <p:cNvPr id="4" name="cartao-Apoio da torcida"/>
          <p:cNvSpPr/>
          <p:nvPr/>
        </p:nvSpPr>
        <p:spPr>
          <a:xfrm>
            <a:off x="731520" y="2194560"/>
            <a:ext cx="4800600" cy="1481328"/>
          </a:xfrm>
          <a:prstGeom prst="roundRect">
            <a:avLst>
              <a:gd name="adj" fmla="val 493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bolha-Apoio da torci"/>
          <p:cNvSpPr/>
          <p:nvPr/>
        </p:nvSpPr>
        <p:spPr>
          <a:xfrm>
            <a:off x="969264" y="241401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6" name="bolha-num-Apoio da torci"/>
          <p:cNvSpPr txBox="1"/>
          <p:nvPr/>
        </p:nvSpPr>
        <p:spPr>
          <a:xfrm>
            <a:off x="969264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cartao-tit-Apoio da torci"/>
          <p:cNvSpPr txBox="1"/>
          <p:nvPr/>
        </p:nvSpPr>
        <p:spPr>
          <a:xfrm>
            <a:off x="1517904" y="243230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Apoio da torcida</a:t>
            </a:r>
            <a:endParaRPr lang="en-US" sz="1600" dirty="0"/>
          </a:p>
        </p:txBody>
      </p:sp>
      <p:sp>
        <p:nvSpPr>
          <p:cNvPr id="8" name="cartao-corpo-Apoio da torci"/>
          <p:cNvSpPr txBox="1"/>
          <p:nvPr/>
        </p:nvSpPr>
        <p:spPr>
          <a:xfrm>
            <a:off x="1005840" y="285292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Motivação dos mandantes e pressão sobre os visitantes.</a:t>
            </a:r>
            <a:endParaRPr lang="en-US" sz="1350" dirty="0"/>
          </a:p>
        </p:txBody>
      </p:sp>
      <p:sp>
        <p:nvSpPr>
          <p:cNvPr id="9" name="cartao-Familiaridade"/>
          <p:cNvSpPr/>
          <p:nvPr/>
        </p:nvSpPr>
        <p:spPr>
          <a:xfrm>
            <a:off x="5760720" y="2194560"/>
            <a:ext cx="4800600" cy="1481328"/>
          </a:xfrm>
          <a:prstGeom prst="roundRect">
            <a:avLst>
              <a:gd name="adj" fmla="val 493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bolha-Familiaridade"/>
          <p:cNvSpPr/>
          <p:nvPr/>
        </p:nvSpPr>
        <p:spPr>
          <a:xfrm>
            <a:off x="5998464" y="241401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1" name="bolha-num-Familiaridade"/>
          <p:cNvSpPr txBox="1"/>
          <p:nvPr/>
        </p:nvSpPr>
        <p:spPr>
          <a:xfrm>
            <a:off x="5998464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cartao-tit-Familiaridade"/>
          <p:cNvSpPr txBox="1"/>
          <p:nvPr/>
        </p:nvSpPr>
        <p:spPr>
          <a:xfrm>
            <a:off x="6547104" y="243230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Familiaridade</a:t>
            </a:r>
            <a:endParaRPr lang="en-US" sz="1600" dirty="0"/>
          </a:p>
        </p:txBody>
      </p:sp>
      <p:sp>
        <p:nvSpPr>
          <p:cNvPr id="13" name="cartao-corpo-Familiaridade"/>
          <p:cNvSpPr txBox="1"/>
          <p:nvPr/>
        </p:nvSpPr>
        <p:spPr>
          <a:xfrm>
            <a:off x="6035040" y="285292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Conhecimento do gramado, das dimensões e do clima local.</a:t>
            </a:r>
            <a:endParaRPr lang="en-US" sz="1350" dirty="0"/>
          </a:p>
        </p:txBody>
      </p:sp>
      <p:sp>
        <p:nvSpPr>
          <p:cNvPr id="14" name="cartao-Logística de viage"/>
          <p:cNvSpPr/>
          <p:nvPr/>
        </p:nvSpPr>
        <p:spPr>
          <a:xfrm>
            <a:off x="731520" y="3886200"/>
            <a:ext cx="4800600" cy="1481328"/>
          </a:xfrm>
          <a:prstGeom prst="roundRect">
            <a:avLst>
              <a:gd name="adj" fmla="val 493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5" name="bolha-Logística de v"/>
          <p:cNvSpPr/>
          <p:nvPr/>
        </p:nvSpPr>
        <p:spPr>
          <a:xfrm>
            <a:off x="969264" y="410565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6" name="bolha-num-Logística de v"/>
          <p:cNvSpPr txBox="1"/>
          <p:nvPr/>
        </p:nvSpPr>
        <p:spPr>
          <a:xfrm>
            <a:off x="969264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cartao-tit-Logística de v"/>
          <p:cNvSpPr txBox="1"/>
          <p:nvPr/>
        </p:nvSpPr>
        <p:spPr>
          <a:xfrm>
            <a:off x="1517904" y="412394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Logística de viagem</a:t>
            </a:r>
            <a:endParaRPr lang="en-US" sz="1600" dirty="0"/>
          </a:p>
        </p:txBody>
      </p:sp>
      <p:sp>
        <p:nvSpPr>
          <p:cNvPr id="18" name="cartao-corpo-Logística de v"/>
          <p:cNvSpPr txBox="1"/>
          <p:nvPr/>
        </p:nvSpPr>
        <p:spPr>
          <a:xfrm>
            <a:off x="1005840" y="454456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Desgaste físico e mental imposto ao visitante.</a:t>
            </a:r>
            <a:endParaRPr lang="en-US" sz="1350" dirty="0"/>
          </a:p>
        </p:txBody>
      </p:sp>
      <p:sp>
        <p:nvSpPr>
          <p:cNvPr id="19" name="cartao-Viés de arbitragem"/>
          <p:cNvSpPr/>
          <p:nvPr/>
        </p:nvSpPr>
        <p:spPr>
          <a:xfrm>
            <a:off x="5760720" y="3886200"/>
            <a:ext cx="4800600" cy="1481328"/>
          </a:xfrm>
          <a:prstGeom prst="roundRect">
            <a:avLst>
              <a:gd name="adj" fmla="val 4938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0" name="bolha-Viés de arbitr"/>
          <p:cNvSpPr/>
          <p:nvPr/>
        </p:nvSpPr>
        <p:spPr>
          <a:xfrm>
            <a:off x="5998464" y="410565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21" name="bolha-num-Viés de arbitr"/>
          <p:cNvSpPr txBox="1"/>
          <p:nvPr/>
        </p:nvSpPr>
        <p:spPr>
          <a:xfrm>
            <a:off x="5998464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cartao-tit-Viés de arbitr"/>
          <p:cNvSpPr txBox="1"/>
          <p:nvPr/>
        </p:nvSpPr>
        <p:spPr>
          <a:xfrm>
            <a:off x="6547104" y="412394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Viés de arbitragem</a:t>
            </a:r>
            <a:endParaRPr lang="en-US" sz="1600" dirty="0"/>
          </a:p>
        </p:txBody>
      </p:sp>
      <p:sp>
        <p:nvSpPr>
          <p:cNvPr id="23" name="cartao-corpo-Viés de arbitr"/>
          <p:cNvSpPr txBox="1"/>
          <p:nvPr/>
        </p:nvSpPr>
        <p:spPr>
          <a:xfrm>
            <a:off x="6035040" y="4544568"/>
            <a:ext cx="4251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Pressão sobre as decisões em lances cruciais.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Problema de pesquisa e objetivos</a:t>
            </a:r>
            <a:endParaRPr lang="en-US" sz="3000" dirty="0"/>
          </a:p>
        </p:txBody>
      </p:sp>
      <p:sp>
        <p:nvSpPr>
          <p:cNvPr id="3" name="pergunta-fundo"/>
          <p:cNvSpPr/>
          <p:nvPr/>
        </p:nvSpPr>
        <p:spPr>
          <a:xfrm>
            <a:off x="731520" y="1481328"/>
            <a:ext cx="9875520" cy="1060704"/>
          </a:xfrm>
          <a:prstGeom prst="roundRect">
            <a:avLst>
              <a:gd name="adj" fmla="val 6897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4" name="pergunta"/>
          <p:cNvSpPr txBox="1"/>
          <p:nvPr/>
        </p:nvSpPr>
        <p:spPr>
          <a:xfrm>
            <a:off x="1097280" y="1572768"/>
            <a:ext cx="9144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800" b="1" dirty="0">
                <a:solidFill>
                  <a:srgbClr val="FFFFFF"/>
                </a:solidFill>
              </a:rPr>
              <a:t>Até que ponto o mando de campo ainda é estatisticamente determinante na era moderna, e quais mecanismos sustentam essa vantagem?</a:t>
            </a:r>
            <a:endParaRPr lang="en-US" sz="1800" dirty="0"/>
          </a:p>
        </p:txBody>
      </p:sp>
      <p:sp>
        <p:nvSpPr>
          <p:cNvPr id="5" name="obj-tit"/>
          <p:cNvSpPr txBox="1"/>
          <p:nvPr/>
        </p:nvSpPr>
        <p:spPr>
          <a:xfrm>
            <a:off x="731520" y="288950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Objetivos específicos</a:t>
            </a:r>
            <a:endParaRPr lang="en-US" sz="1600" dirty="0"/>
          </a:p>
        </p:txBody>
      </p:sp>
      <p:sp>
        <p:nvSpPr>
          <p:cNvPr id="6" name="lista"/>
          <p:cNvSpPr txBox="1"/>
          <p:nvPr/>
        </p:nvSpPr>
        <p:spPr>
          <a:xfrm>
            <a:off x="731520" y="3346704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A45"/>
                </a:solidFill>
              </a:rPr>
              <a:t>Quantificar a magnitude da vantagem, com intervalos de confiança e tamanho de efeito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A45"/>
                </a:solidFill>
              </a:rPr>
              <a:t>Verificar se equipes de diferentes faixas da tabela se comportam da mesma forma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A45"/>
                </a:solidFill>
              </a:rPr>
              <a:t>Identificar tendência temporal do fenômeno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A45"/>
                </a:solidFill>
              </a:rPr>
              <a:t>Avaliar o papel do público, distinguindo-o de outras mudanças do período</a:t>
            </a:r>
            <a:endParaRPr lang="en-US" sz="16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B3A45"/>
                </a:solidFill>
              </a:rPr>
              <a:t>Estimar o mando por modelo que controle a força do adversário e avaliar modelos preditivos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Método e dados</a:t>
            </a:r>
            <a:endParaRPr lang="en-US" sz="3000" dirty="0"/>
          </a:p>
        </p:txBody>
      </p:sp>
      <p:sp>
        <p:nvSpPr>
          <p:cNvPr id="3" name="met-intro"/>
          <p:cNvSpPr txBox="1"/>
          <p:nvPr/>
        </p:nvSpPr>
        <p:spPr>
          <a:xfrm>
            <a:off x="731520" y="14813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0"/>
                </a:solidFill>
              </a:rPr>
              <a:t>Metodologia CRISP-DM, com análise em Python. Dados do portal Football-Data.co.uk, cobrindo o recorte completo de 11 temporadas.</a:t>
            </a:r>
            <a:endParaRPr lang="en-US" sz="1500" dirty="0"/>
          </a:p>
        </p:txBody>
      </p:sp>
      <p:sp>
        <p:nvSpPr>
          <p:cNvPr id="4" name="stat-num-partidas analisada"/>
          <p:cNvSpPr txBox="1"/>
          <p:nvPr/>
        </p:nvSpPr>
        <p:spPr>
          <a:xfrm>
            <a:off x="731520" y="22128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4.180</a:t>
            </a:r>
            <a:endParaRPr lang="en-US" sz="4600" dirty="0"/>
          </a:p>
        </p:txBody>
      </p:sp>
      <p:sp>
        <p:nvSpPr>
          <p:cNvPr id="5" name="stat-rot-partidas analisada"/>
          <p:cNvSpPr txBox="1"/>
          <p:nvPr/>
        </p:nvSpPr>
        <p:spPr>
          <a:xfrm>
            <a:off x="73152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partidas analisadas</a:t>
            </a:r>
            <a:endParaRPr lang="en-US" sz="1300" dirty="0"/>
          </a:p>
        </p:txBody>
      </p:sp>
      <p:sp>
        <p:nvSpPr>
          <p:cNvPr id="6" name="stat-num-temporadas 2015/16"/>
          <p:cNvSpPr txBox="1"/>
          <p:nvPr/>
        </p:nvSpPr>
        <p:spPr>
          <a:xfrm>
            <a:off x="3337560" y="22128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11</a:t>
            </a:r>
            <a:endParaRPr lang="en-US" sz="4600" dirty="0"/>
          </a:p>
        </p:txBody>
      </p:sp>
      <p:sp>
        <p:nvSpPr>
          <p:cNvPr id="7" name="stat-rot-temporadas 2015/16"/>
          <p:cNvSpPr txBox="1"/>
          <p:nvPr/>
        </p:nvSpPr>
        <p:spPr>
          <a:xfrm>
            <a:off x="333756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temporadas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2015/16 a 2025/26</a:t>
            </a:r>
            <a:endParaRPr lang="en-US" sz="1300" dirty="0"/>
          </a:p>
        </p:txBody>
      </p:sp>
      <p:sp>
        <p:nvSpPr>
          <p:cNvPr id="8" name="stat-num-variáveis por part"/>
          <p:cNvSpPr txBox="1"/>
          <p:nvPr/>
        </p:nvSpPr>
        <p:spPr>
          <a:xfrm>
            <a:off x="5943600" y="2212848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22</a:t>
            </a:r>
            <a:endParaRPr lang="en-US" sz="4600" dirty="0"/>
          </a:p>
        </p:txBody>
      </p:sp>
      <p:sp>
        <p:nvSpPr>
          <p:cNvPr id="9" name="stat-rot-variáveis por part"/>
          <p:cNvSpPr txBox="1"/>
          <p:nvPr/>
        </p:nvSpPr>
        <p:spPr>
          <a:xfrm>
            <a:off x="5943600" y="294436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variáveis por partida</a:t>
            </a:r>
            <a:endParaRPr lang="en-US" sz="1300" dirty="0"/>
          </a:p>
        </p:txBody>
      </p:sp>
      <p:sp>
        <p:nvSpPr>
          <p:cNvPr id="10" name="stat-num-testes automatizad"/>
          <p:cNvSpPr txBox="1"/>
          <p:nvPr/>
        </p:nvSpPr>
        <p:spPr>
          <a:xfrm>
            <a:off x="8412480" y="2212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81</a:t>
            </a:r>
            <a:endParaRPr lang="en-US" sz="4600" dirty="0"/>
          </a:p>
        </p:txBody>
      </p:sp>
      <p:sp>
        <p:nvSpPr>
          <p:cNvPr id="11" name="stat-rot-testes automatizad"/>
          <p:cNvSpPr txBox="1"/>
          <p:nvPr/>
        </p:nvSpPr>
        <p:spPr>
          <a:xfrm>
            <a:off x="8412480" y="2944368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testes automatizados</a:t>
            </a:r>
            <a:endParaRPr lang="en-US" sz="1300" dirty="0"/>
          </a:p>
        </p:txBody>
      </p:sp>
      <p:sp>
        <p:nvSpPr>
          <p:cNvPr id="12" name="fases-tit"/>
          <p:cNvSpPr txBox="1"/>
          <p:nvPr/>
        </p:nvSpPr>
        <p:spPr>
          <a:xfrm>
            <a:off x="731520" y="393192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Fases executadas</a:t>
            </a:r>
            <a:endParaRPr lang="en-US" sz="1600" dirty="0"/>
          </a:p>
        </p:txBody>
      </p:sp>
      <p:sp>
        <p:nvSpPr>
          <p:cNvPr id="13" name="fase-0"/>
          <p:cNvSpPr/>
          <p:nvPr/>
        </p:nvSpPr>
        <p:spPr>
          <a:xfrm>
            <a:off x="731520" y="4370832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4" name="fase-t-0"/>
          <p:cNvSpPr txBox="1"/>
          <p:nvPr/>
        </p:nvSpPr>
        <p:spPr>
          <a:xfrm>
            <a:off x="731520" y="43708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Entendimento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do negócio</a:t>
            </a:r>
            <a:endParaRPr lang="en-US" sz="1250" dirty="0"/>
          </a:p>
        </p:txBody>
      </p:sp>
      <p:sp>
        <p:nvSpPr>
          <p:cNvPr id="15" name="fase-1"/>
          <p:cNvSpPr/>
          <p:nvPr/>
        </p:nvSpPr>
        <p:spPr>
          <a:xfrm>
            <a:off x="2724912" y="4370832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fase-t-1"/>
          <p:cNvSpPr txBox="1"/>
          <p:nvPr/>
        </p:nvSpPr>
        <p:spPr>
          <a:xfrm>
            <a:off x="2724912" y="43708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Entendimento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dos dados</a:t>
            </a:r>
            <a:endParaRPr lang="en-US" sz="1250" dirty="0"/>
          </a:p>
        </p:txBody>
      </p:sp>
      <p:sp>
        <p:nvSpPr>
          <p:cNvPr id="17" name="fase-2"/>
          <p:cNvSpPr/>
          <p:nvPr/>
        </p:nvSpPr>
        <p:spPr>
          <a:xfrm>
            <a:off x="4718304" y="4370832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8" name="fase-t-2"/>
          <p:cNvSpPr txBox="1"/>
          <p:nvPr/>
        </p:nvSpPr>
        <p:spPr>
          <a:xfrm>
            <a:off x="4718304" y="43708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Preparação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2B3A45"/>
                </a:solidFill>
              </a:rPr>
              <a:t>dos dados</a:t>
            </a:r>
            <a:endParaRPr lang="en-US" sz="1250" dirty="0"/>
          </a:p>
        </p:txBody>
      </p:sp>
      <p:sp>
        <p:nvSpPr>
          <p:cNvPr id="19" name="fase-3"/>
          <p:cNvSpPr/>
          <p:nvPr/>
        </p:nvSpPr>
        <p:spPr>
          <a:xfrm>
            <a:off x="6711696" y="4370832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20" name="fase-t-3"/>
          <p:cNvSpPr txBox="1"/>
          <p:nvPr/>
        </p:nvSpPr>
        <p:spPr>
          <a:xfrm>
            <a:off x="6711696" y="43708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Modelagem</a:t>
            </a:r>
            <a:endParaRPr lang="en-US" sz="1250" dirty="0"/>
          </a:p>
        </p:txBody>
      </p:sp>
      <p:sp>
        <p:nvSpPr>
          <p:cNvPr id="21" name="fase-4"/>
          <p:cNvSpPr/>
          <p:nvPr/>
        </p:nvSpPr>
        <p:spPr>
          <a:xfrm>
            <a:off x="8705088" y="4370832"/>
            <a:ext cx="1828800" cy="786384"/>
          </a:xfrm>
          <a:prstGeom prst="roundRect">
            <a:avLst>
              <a:gd name="adj" fmla="val 6977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22" name="fase-t-4"/>
          <p:cNvSpPr txBox="1"/>
          <p:nvPr/>
        </p:nvSpPr>
        <p:spPr>
          <a:xfrm>
            <a:off x="8705088" y="437083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Avaliação</a:t>
            </a:r>
            <a:endParaRPr lang="en-US" sz="1250" dirty="0"/>
          </a:p>
        </p:txBody>
      </p:sp>
      <p:sp>
        <p:nvSpPr>
          <p:cNvPr id="23" name="fases-nota"/>
          <p:cNvSpPr txBox="1"/>
          <p:nvPr/>
        </p:nvSpPr>
        <p:spPr>
          <a:xfrm>
            <a:off x="731520" y="524865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49C"/>
                </a:solidFill>
              </a:rPr>
              <a:t>As duas últimas fases são a contribuição desta etapa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Reprodutibilidade e integridade dos dados</a:t>
            </a:r>
            <a:endParaRPr lang="en-US" sz="3000" dirty="0"/>
          </a:p>
        </p:txBody>
      </p:sp>
      <p:sp>
        <p:nvSpPr>
          <p:cNvPr id="3" name="rigor-intro"/>
          <p:cNvSpPr txBox="1"/>
          <p:nvPr/>
        </p:nvSpPr>
        <p:spPr>
          <a:xfrm>
            <a:off x="731520" y="14813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0"/>
                </a:solidFill>
              </a:rPr>
              <a:t>A fonte reescreve periodicamente seus arquivos. Sem controle, duas execuções em datas distintas produzem números diferentes sem qualquer aviso.</a:t>
            </a:r>
            <a:endParaRPr lang="en-US" sz="1500" dirty="0"/>
          </a:p>
        </p:txBody>
      </p:sp>
      <p:sp>
        <p:nvSpPr>
          <p:cNvPr id="4" name="cartao-Manifesto com SHA-"/>
          <p:cNvSpPr/>
          <p:nvPr/>
        </p:nvSpPr>
        <p:spPr>
          <a:xfrm>
            <a:off x="731520" y="2103120"/>
            <a:ext cx="4800600" cy="1572768"/>
          </a:xfrm>
          <a:prstGeom prst="roundRect">
            <a:avLst>
              <a:gd name="adj" fmla="val 465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bolha-Manifesto com "/>
          <p:cNvSpPr/>
          <p:nvPr/>
        </p:nvSpPr>
        <p:spPr>
          <a:xfrm>
            <a:off x="969264" y="232257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6" name="bolha-num-Manifesto com "/>
          <p:cNvSpPr txBox="1"/>
          <p:nvPr/>
        </p:nvSpPr>
        <p:spPr>
          <a:xfrm>
            <a:off x="969264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cartao-tit-Manifesto com "/>
          <p:cNvSpPr txBox="1"/>
          <p:nvPr/>
        </p:nvSpPr>
        <p:spPr>
          <a:xfrm>
            <a:off x="1517904" y="234086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Manifesto com SHA-256</a:t>
            </a:r>
            <a:endParaRPr lang="en-US" sz="1600" dirty="0"/>
          </a:p>
        </p:txBody>
      </p:sp>
      <p:sp>
        <p:nvSpPr>
          <p:cNvPr id="8" name="cartao-corpo-Manifesto com "/>
          <p:cNvSpPr txBox="1"/>
          <p:nvPr/>
        </p:nvSpPr>
        <p:spPr>
          <a:xfrm>
            <a:off x="1005840" y="276148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Procedência e resumo criptográfico de cada arquivo são registrados. Qualquer divergência interrompe a execução.</a:t>
            </a:r>
            <a:endParaRPr lang="en-US" sz="1350" dirty="0"/>
          </a:p>
        </p:txBody>
      </p:sp>
      <p:sp>
        <p:nvSpPr>
          <p:cNvPr id="9" name="cartao-Falha alta, nunca "/>
          <p:cNvSpPr/>
          <p:nvPr/>
        </p:nvSpPr>
        <p:spPr>
          <a:xfrm>
            <a:off x="5806440" y="2103120"/>
            <a:ext cx="4800600" cy="1572768"/>
          </a:xfrm>
          <a:prstGeom prst="roundRect">
            <a:avLst>
              <a:gd name="adj" fmla="val 4651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bolha-Falha alta, nu"/>
          <p:cNvSpPr/>
          <p:nvPr/>
        </p:nvSpPr>
        <p:spPr>
          <a:xfrm>
            <a:off x="6044184" y="2322576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1" name="bolha-num-Falha alta, nu"/>
          <p:cNvSpPr txBox="1"/>
          <p:nvPr/>
        </p:nvSpPr>
        <p:spPr>
          <a:xfrm>
            <a:off x="6044184" y="2322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cartao-tit-Falha alta, nu"/>
          <p:cNvSpPr txBox="1"/>
          <p:nvPr/>
        </p:nvSpPr>
        <p:spPr>
          <a:xfrm>
            <a:off x="6592824" y="2340864"/>
            <a:ext cx="3739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Falha alta, nunca silenciosa</a:t>
            </a:r>
            <a:endParaRPr lang="en-US" sz="1600" dirty="0"/>
          </a:p>
        </p:txBody>
      </p:sp>
      <p:sp>
        <p:nvSpPr>
          <p:cNvPr id="13" name="cartao-corpo-Falha alta, nu"/>
          <p:cNvSpPr txBox="1"/>
          <p:nvPr/>
        </p:nvSpPr>
        <p:spPr>
          <a:xfrm>
            <a:off x="6080760" y="2761488"/>
            <a:ext cx="4251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Erro de coleta interrompe o processamento, em vez de gerar um conjunto parcial sem aviso.</a:t>
            </a:r>
            <a:endParaRPr lang="en-US" sz="1350" dirty="0"/>
          </a:p>
        </p:txBody>
      </p:sp>
      <p:sp>
        <p:nvSpPr>
          <p:cNvPr id="14" name="quebra-fundo"/>
          <p:cNvSpPr/>
          <p:nvPr/>
        </p:nvSpPr>
        <p:spPr>
          <a:xfrm>
            <a:off x="731520" y="3840480"/>
            <a:ext cx="9875520" cy="1572768"/>
          </a:xfrm>
          <a:prstGeom prst="roundRect">
            <a:avLst>
              <a:gd name="adj" fmla="val 4651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5" name="quebra-tit"/>
          <p:cNvSpPr txBox="1"/>
          <p:nvPr/>
        </p:nvSpPr>
        <p:spPr>
          <a:xfrm>
            <a:off x="1097280" y="404164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ECF07"/>
                </a:solidFill>
              </a:rPr>
              <a:t>Quebra de série detectada automaticamente</a:t>
            </a:r>
            <a:endParaRPr lang="en-US" sz="1600" dirty="0"/>
          </a:p>
        </p:txBody>
      </p:sp>
      <p:sp>
        <p:nvSpPr>
          <p:cNvPr id="16" name="quebra-corpo"/>
          <p:cNvSpPr txBox="1"/>
          <p:nvPr/>
        </p:nvSpPr>
        <p:spPr>
          <a:xfrm>
            <a:off x="1097280" y="4407408"/>
            <a:ext cx="91440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A média de finalizações no alvo da liga cai 37% entre 2012/13 e 2013/14, enquanto gols e finalizações totais permanecem estáveis. Não é mudança no jogo: é mudança de critério do provedor. Comparações dessa variável que atravessem 2013/14 são inválidas.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A vantagem existe — e é menor do que se supõe</a:t>
            </a:r>
            <a:endParaRPr lang="en-US" sz="3000" dirty="0"/>
          </a:p>
        </p:txBody>
      </p:sp>
      <p:sp>
        <p:nvSpPr>
          <p:cNvPr id="3" name="stat-num-das partidas decid"/>
          <p:cNvSpPr txBox="1"/>
          <p:nvPr/>
        </p:nvSpPr>
        <p:spPr>
          <a:xfrm>
            <a:off x="731520" y="16276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58,09%</a:t>
            </a:r>
            <a:endParaRPr lang="en-US" sz="4600" dirty="0"/>
          </a:p>
        </p:txBody>
      </p:sp>
      <p:sp>
        <p:nvSpPr>
          <p:cNvPr id="4" name="stat-rot-das partidas decid"/>
          <p:cNvSpPr txBox="1"/>
          <p:nvPr/>
        </p:nvSpPr>
        <p:spPr>
          <a:xfrm>
            <a:off x="731520" y="23591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das partidas decididas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terminam com vitória do mandante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IC 95%: [56,35; 59,81]</a:t>
            </a:r>
            <a:endParaRPr lang="en-US" sz="1300" dirty="0"/>
          </a:p>
        </p:txBody>
      </p:sp>
      <p:sp>
        <p:nvSpPr>
          <p:cNvPr id="5" name="stat-num-ponto por jogo de "/>
          <p:cNvSpPr txBox="1"/>
          <p:nvPr/>
        </p:nvSpPr>
        <p:spPr>
          <a:xfrm>
            <a:off x="4114800" y="162763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+0,37</a:t>
            </a:r>
            <a:endParaRPr lang="en-US" sz="4600" dirty="0"/>
          </a:p>
        </p:txBody>
      </p:sp>
      <p:sp>
        <p:nvSpPr>
          <p:cNvPr id="6" name="stat-rot-ponto por jogo de "/>
          <p:cNvSpPr txBox="1"/>
          <p:nvPr/>
        </p:nvSpPr>
        <p:spPr>
          <a:xfrm>
            <a:off x="4114800" y="23591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ponto por jogo de vantagem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IC 95%: [0,29; 0,45]</a:t>
            </a:r>
            <a:endParaRPr lang="en-US" sz="1300" dirty="0"/>
          </a:p>
        </p:txBody>
      </p:sp>
      <p:sp>
        <p:nvSpPr>
          <p:cNvPr id="7" name="stat-num-d de Cohen efeito "/>
          <p:cNvSpPr txBox="1"/>
          <p:nvPr/>
        </p:nvSpPr>
        <p:spPr>
          <a:xfrm>
            <a:off x="7498080" y="162763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B6834"/>
                </a:solidFill>
              </a:rPr>
              <a:t>0,143</a:t>
            </a:r>
            <a:endParaRPr lang="en-US" sz="4600" dirty="0"/>
          </a:p>
        </p:txBody>
      </p:sp>
      <p:sp>
        <p:nvSpPr>
          <p:cNvPr id="8" name="stat-rot-d de Cohen efeito "/>
          <p:cNvSpPr txBox="1"/>
          <p:nvPr/>
        </p:nvSpPr>
        <p:spPr>
          <a:xfrm>
            <a:off x="7498080" y="235915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d de Cohen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efeito pequeno</a:t>
            </a:r>
            <a:endParaRPr lang="en-US" sz="1300" dirty="0"/>
          </a:p>
        </p:txBody>
      </p:sp>
      <p:sp>
        <p:nvSpPr>
          <p:cNvPr id="9" name="efeito-fundo"/>
          <p:cNvSpPr/>
          <p:nvPr/>
        </p:nvSpPr>
        <p:spPr>
          <a:xfrm>
            <a:off x="731520" y="3749040"/>
            <a:ext cx="9875520" cy="1627632"/>
          </a:xfrm>
          <a:prstGeom prst="roundRect">
            <a:avLst>
              <a:gd name="adj" fmla="val 449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0" name="efeito-tit"/>
          <p:cNvSpPr txBox="1"/>
          <p:nvPr/>
        </p:nvSpPr>
        <p:spPr>
          <a:xfrm>
            <a:off x="1097280" y="3931920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Significância não é magnitude</a:t>
            </a:r>
            <a:endParaRPr lang="en-US" sz="1600" dirty="0"/>
          </a:p>
        </p:txBody>
      </p:sp>
      <p:sp>
        <p:nvSpPr>
          <p:cNvPr id="11" name="efeito-corpo"/>
          <p:cNvSpPr txBox="1"/>
          <p:nvPr/>
        </p:nvSpPr>
        <p:spPr>
          <a:xfrm>
            <a:off x="1097280" y="42976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A6670"/>
                </a:solidFill>
              </a:rPr>
              <a:t>Com 4.180 partidas, p-valores reduzidos são esperados mesmo para diferenças modestas. O tamanho de efeito classifica o fenômeno como pequeno: consistente e sistemático, porém de magnitude moderada. O TCC 1 descrevia a assimetria como contundente — a correção aqui é de interpretação, não de cálculo.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Volume de oportunidades, não eficiência</a:t>
            </a:r>
            <a:endParaRPr lang="en-US" sz="3000" dirty="0"/>
          </a:p>
        </p:txBody>
      </p:sp>
      <p:pic>
        <p:nvPicPr>
          <p:cNvPr id="3" name="fig-volume" descr="/home/user/TCC2/figuras/volume_ofensi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6492240" cy="2441448"/>
          </a:xfrm>
          <a:prstGeom prst="rect">
            <a:avLst/>
          </a:prstGeom>
        </p:spPr>
      </p:pic>
      <p:sp>
        <p:nvSpPr>
          <p:cNvPr id="4" name="stat-num-conversão do manda"/>
          <p:cNvSpPr txBox="1"/>
          <p:nvPr/>
        </p:nvSpPr>
        <p:spPr>
          <a:xfrm>
            <a:off x="7589520" y="1572768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52E"/>
                </a:solidFill>
              </a:rPr>
              <a:t>32,6%</a:t>
            </a:r>
            <a:endParaRPr lang="en-US" sz="3800" dirty="0"/>
          </a:p>
        </p:txBody>
      </p:sp>
      <p:sp>
        <p:nvSpPr>
          <p:cNvPr id="5" name="stat-rot-conversão do manda"/>
          <p:cNvSpPr txBox="1"/>
          <p:nvPr/>
        </p:nvSpPr>
        <p:spPr>
          <a:xfrm>
            <a:off x="7589520" y="23042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conversão do mandante</a:t>
            </a:r>
            <a:endParaRPr lang="en-US" sz="1300" dirty="0"/>
          </a:p>
        </p:txBody>
      </p:sp>
      <p:sp>
        <p:nvSpPr>
          <p:cNvPr id="6" name="stat-num-conversão do visit"/>
          <p:cNvSpPr txBox="1"/>
          <p:nvPr/>
        </p:nvSpPr>
        <p:spPr>
          <a:xfrm>
            <a:off x="7589520" y="2816352"/>
            <a:ext cx="3017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7252E"/>
                </a:solidFill>
              </a:rPr>
              <a:t>31,8%</a:t>
            </a:r>
            <a:endParaRPr lang="en-US" sz="3800" dirty="0"/>
          </a:p>
        </p:txBody>
      </p:sp>
      <p:sp>
        <p:nvSpPr>
          <p:cNvPr id="7" name="stat-rot-conversão do visit"/>
          <p:cNvSpPr txBox="1"/>
          <p:nvPr/>
        </p:nvSpPr>
        <p:spPr>
          <a:xfrm>
            <a:off x="7589520" y="35478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conversão do visitante</a:t>
            </a:r>
            <a:endParaRPr lang="en-US" sz="1300" dirty="0"/>
          </a:p>
        </p:txBody>
      </p:sp>
      <p:sp>
        <p:nvSpPr>
          <p:cNvPr id="8" name="conv-texto"/>
          <p:cNvSpPr txBox="1"/>
          <p:nvPr/>
        </p:nvSpPr>
        <p:spPr>
          <a:xfrm>
            <a:off x="731520" y="4224528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A6670"/>
                </a:solidFill>
              </a:rPr>
              <a:t>As taxas de conversão de finalizações no alvo em gols são praticamente equivalentes, com intervalos de confiança que quase se sobrepõem. O diferencial vem do volume: mandantes produzem mais finalizações no alvo e mais escanteios em todas as temporadas do recorte.</a:t>
            </a:r>
            <a:endParaRPr lang="en-US" sz="1500" dirty="0"/>
          </a:p>
        </p:txBody>
      </p:sp>
      <p:sp>
        <p:nvSpPr>
          <p:cNvPr id="9" name="legenda"/>
          <p:cNvSpPr txBox="1"/>
          <p:nvPr/>
        </p:nvSpPr>
        <p:spPr>
          <a:xfrm>
            <a:off x="731520" y="512064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C"/>
                </a:solidFill>
              </a:rPr>
              <a:t>Fonte: autoria própria (2026).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Correção: a comparação entre Big Six e demais clubes</a:t>
            </a:r>
            <a:endParaRPr lang="en-US" sz="3000" dirty="0"/>
          </a:p>
        </p:txBody>
      </p:sp>
      <p:sp>
        <p:nvSpPr>
          <p:cNvPr id="3" name="bs-intro"/>
          <p:cNvSpPr txBox="1"/>
          <p:nvPr/>
        </p:nvSpPr>
        <p:spPr>
          <a:xfrm>
            <a:off x="731520" y="14630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670"/>
                </a:solidFill>
              </a:rPr>
              <a:t>O cálculo agregava, para cada partida, os pontos do mandante e os do visitante. Como a segunda coluna é o visitante daquela mesma partida, o que se media não era o Big Six fora de casa, e sim seus adversários.</a:t>
            </a:r>
            <a:endParaRPr lang="en-US" sz="1500" dirty="0"/>
          </a:p>
        </p:txBody>
      </p:sp>
      <p:graphicFrame>
        <p:nvGraphicFramePr>
          <p:cNvPr id="10" name="bs-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57984"/>
          <a:ext cx="6400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TCC 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Corrigido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5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5"/>
                          </a:solidFill>
                        </a:rPr>
                        <a:t>Diferencial do Big Six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5"/>
                          </a:solidFill>
                        </a:rPr>
                        <a:t>+1,397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52E"/>
                          </a:solidFill>
                        </a:rPr>
                        <a:t>+0,418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5"/>
                          </a:solidFill>
                        </a:rPr>
                        <a:t>Diferencial dos demais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5"/>
                          </a:solidFill>
                        </a:rPr>
                        <a:t>−0,070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52E"/>
                          </a:solidFill>
                        </a:rPr>
                        <a:t>+0,366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5"/>
                          </a:solidFill>
                        </a:rPr>
                        <a:t>Diferença entre grupos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52E"/>
                          </a:solidFill>
                        </a:rPr>
                        <a:t>+0,051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5"/>
                          </a:solidFill>
                        </a:rPr>
                        <a:t>p-valor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5"/>
                          </a:solidFill>
                        </a:rPr>
                        <a:t>&lt; 0,001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52E"/>
                          </a:solidFill>
                        </a:rPr>
                        <a:t>0,351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B3A45"/>
                          </a:solidFill>
                        </a:rPr>
                        <a:t>Unidade de análise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B3A45"/>
                          </a:solidFill>
                        </a:rPr>
                        <a:t>1.254 partidas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52E"/>
                          </a:solidFill>
                        </a:rPr>
                        <a:t>28 clubes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bs-licao-fundo"/>
          <p:cNvSpPr/>
          <p:nvPr/>
        </p:nvSpPr>
        <p:spPr>
          <a:xfrm>
            <a:off x="7498080" y="2157984"/>
            <a:ext cx="3108960" cy="2304288"/>
          </a:xfrm>
          <a:prstGeom prst="roundRect">
            <a:avLst>
              <a:gd name="adj" fmla="val 3175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6" name="bs-licao-tit"/>
          <p:cNvSpPr txBox="1"/>
          <p:nvPr/>
        </p:nvSpPr>
        <p:spPr>
          <a:xfrm>
            <a:off x="7772400" y="2377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F07"/>
                </a:solidFill>
              </a:rPr>
              <a:t>O aprendizado</a:t>
            </a:r>
            <a:endParaRPr lang="en-US" sz="1500" dirty="0"/>
          </a:p>
        </p:txBody>
      </p:sp>
      <p:sp>
        <p:nvSpPr>
          <p:cNvPr id="7" name="bs-licao-corpo"/>
          <p:cNvSpPr txBox="1"/>
          <p:nvPr/>
        </p:nvSpPr>
        <p:spPr>
          <a:xfrm>
            <a:off x="7772400" y="2761488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FFFFFF"/>
                </a:solidFill>
              </a:rPr>
              <a:t>O teste aparentava poder por contar partidas, quando a hipótese era sobre clubes. Com a unidade correta, não há diferença estatisticamente significativa entre os grupos.</a:t>
            </a:r>
            <a:endParaRPr lang="en-US" sz="1350" dirty="0"/>
          </a:p>
        </p:txBody>
      </p:sp>
      <p:sp>
        <p:nvSpPr>
          <p:cNvPr id="8" name="bs-indicios"/>
          <p:cNvSpPr txBox="1"/>
          <p:nvPr/>
        </p:nvSpPr>
        <p:spPr>
          <a:xfrm>
            <a:off x="731520" y="4626864"/>
            <a:ext cx="6400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8A949C"/>
                </a:solidFill>
              </a:rPr>
              <a:t>Dois indícios estavam na própria saída do TCC 1: o Big Six aparecia com 0,701 ponto fora, quando a tabela por clube registrava Man City com 2,05; e os demais clubes apareciam melhores fora do que em casa.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Times de cima dependem mais do mando, não menos</a:t>
            </a:r>
            <a:endParaRPr lang="en-US" sz="3000" dirty="0"/>
          </a:p>
        </p:txBody>
      </p:sp>
      <p:pic>
        <p:nvPicPr>
          <p:cNvPr id="3" name="fig-faixa" descr="/home/user/TCC2/figuras/fator_cas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17904"/>
            <a:ext cx="5486400" cy="3474720"/>
          </a:xfrm>
          <a:prstGeom prst="rect">
            <a:avLst/>
          </a:prstGeom>
        </p:spPr>
      </p:pic>
      <p:sp>
        <p:nvSpPr>
          <p:cNvPr id="4" name="faixa-texto"/>
          <p:cNvSpPr txBox="1"/>
          <p:nvPr/>
        </p:nvSpPr>
        <p:spPr>
          <a:xfrm>
            <a:off x="6583680" y="157276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A6670"/>
                </a:solidFill>
              </a:rPr>
              <a:t>O gradiente é monotônico e se repete em gols, finalizações no alvo e escanteios. A faixa é recalculada a cada temporada, pela posição final — não por um grupo fixo de clubes.</a:t>
            </a:r>
            <a:endParaRPr lang="en-US" sz="1450" dirty="0"/>
          </a:p>
        </p:txBody>
      </p:sp>
      <p:sp>
        <p:nvSpPr>
          <p:cNvPr id="5" name="fx-n-0"/>
          <p:cNvSpPr txBox="1"/>
          <p:nvPr/>
        </p:nvSpPr>
        <p:spPr>
          <a:xfrm>
            <a:off x="6583680" y="2670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A45"/>
                </a:solidFill>
              </a:rPr>
              <a:t>G6 (1º a 6º)</a:t>
            </a:r>
            <a:endParaRPr lang="en-US" sz="1450" dirty="0"/>
          </a:p>
        </p:txBody>
      </p:sp>
      <p:sp>
        <p:nvSpPr>
          <p:cNvPr id="6" name="fx-v-0"/>
          <p:cNvSpPr txBox="1"/>
          <p:nvPr/>
        </p:nvSpPr>
        <p:spPr>
          <a:xfrm>
            <a:off x="8961120" y="26700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17252E"/>
                </a:solidFill>
              </a:rPr>
              <a:t>0,450</a:t>
            </a:r>
            <a:endParaRPr lang="en-US" sz="1900" dirty="0"/>
          </a:p>
        </p:txBody>
      </p:sp>
      <p:sp>
        <p:nvSpPr>
          <p:cNvPr id="7" name="fx-n-1"/>
          <p:cNvSpPr txBox="1"/>
          <p:nvPr/>
        </p:nvSpPr>
        <p:spPr>
          <a:xfrm>
            <a:off x="6583680" y="32369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A45"/>
                </a:solidFill>
              </a:rPr>
              <a:t>Meio (7º a 14º)</a:t>
            </a:r>
            <a:endParaRPr lang="en-US" sz="1450" dirty="0"/>
          </a:p>
        </p:txBody>
      </p:sp>
      <p:sp>
        <p:nvSpPr>
          <p:cNvPr id="8" name="fx-v-1"/>
          <p:cNvSpPr txBox="1"/>
          <p:nvPr/>
        </p:nvSpPr>
        <p:spPr>
          <a:xfrm>
            <a:off x="8961120" y="323697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5A6670"/>
                </a:solidFill>
              </a:rPr>
              <a:t>0,349</a:t>
            </a:r>
            <a:endParaRPr lang="en-US" sz="1900" dirty="0"/>
          </a:p>
        </p:txBody>
      </p:sp>
      <p:sp>
        <p:nvSpPr>
          <p:cNvPr id="9" name="fx-n-2"/>
          <p:cNvSpPr txBox="1"/>
          <p:nvPr/>
        </p:nvSpPr>
        <p:spPr>
          <a:xfrm>
            <a:off x="6583680" y="380390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3A45"/>
                </a:solidFill>
              </a:rPr>
              <a:t>Z6 (15º a 20º)</a:t>
            </a:r>
            <a:endParaRPr lang="en-US" sz="1450" dirty="0"/>
          </a:p>
        </p:txBody>
      </p:sp>
      <p:sp>
        <p:nvSpPr>
          <p:cNvPr id="10" name="fx-v-2"/>
          <p:cNvSpPr txBox="1"/>
          <p:nvPr/>
        </p:nvSpPr>
        <p:spPr>
          <a:xfrm>
            <a:off x="8961120" y="380390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8A949C"/>
                </a:solidFill>
              </a:rPr>
              <a:t>0,319</a:t>
            </a:r>
            <a:endParaRPr lang="en-US" sz="1900" dirty="0"/>
          </a:p>
        </p:txBody>
      </p:sp>
      <p:sp>
        <p:nvSpPr>
          <p:cNvPr id="11" name="teto-fundo"/>
          <p:cNvSpPr/>
          <p:nvPr/>
        </p:nvSpPr>
        <p:spPr>
          <a:xfrm>
            <a:off x="6583680" y="4443984"/>
            <a:ext cx="4023360" cy="969264"/>
          </a:xfrm>
          <a:prstGeom prst="roundRect">
            <a:avLst>
              <a:gd name="adj" fmla="val 7547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2" name="teto-texto"/>
          <p:cNvSpPr txBox="1"/>
          <p:nvPr/>
        </p:nvSpPr>
        <p:spPr>
          <a:xfrm>
            <a:off x="6858000" y="4572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7252E"/>
                </a:solidFill>
              </a:rPr>
              <a:t>E o efeito de teto atua contra o G6: ele já faz 1,73 ponto fora, restando 1,27 de margem, contra 2,28 do Z6.</a:t>
            </a:r>
            <a:endParaRPr lang="en-US" sz="1300" dirty="0"/>
          </a:p>
        </p:txBody>
      </p:sp>
      <p:sp>
        <p:nvSpPr>
          <p:cNvPr id="13" name="legenda"/>
          <p:cNvSpPr txBox="1"/>
          <p:nvPr/>
        </p:nvSpPr>
        <p:spPr>
          <a:xfrm>
            <a:off x="731520" y="51389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C"/>
                </a:solidFill>
              </a:rPr>
              <a:t>Fonte: autoria própria (2026).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Por que um modelo, e não mais uma média</a:t>
            </a:r>
            <a:endParaRPr lang="en-US" sz="3000" dirty="0"/>
          </a:p>
        </p:txBody>
      </p:sp>
      <p:sp>
        <p:nvSpPr>
          <p:cNvPr id="3" name="mod-intro"/>
          <p:cNvSpPr txBox="1"/>
          <p:nvPr/>
        </p:nvSpPr>
        <p:spPr>
          <a:xfrm>
            <a:off x="731520" y="146304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A6670"/>
                </a:solidFill>
              </a:rPr>
              <a:t>Médias de pontos são limitadas a três por partida, o que comprime a vantagem das equipes fortes, e não vêm acompanhadas de medida de incerteza. O modelo de Dixon e Coles (1997) estima ataque e defesa de cada clube e o mando como parâmetro compartilhado.</a:t>
            </a:r>
            <a:endParaRPr lang="en-US" sz="1500" dirty="0"/>
          </a:p>
        </p:txBody>
      </p:sp>
      <p:sp>
        <p:nvSpPr>
          <p:cNvPr id="4" name="eq-fundo"/>
          <p:cNvSpPr/>
          <p:nvPr/>
        </p:nvSpPr>
        <p:spPr>
          <a:xfrm>
            <a:off x="731520" y="2395728"/>
            <a:ext cx="576072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eq-casa"/>
          <p:cNvSpPr txBox="1"/>
          <p:nvPr/>
        </p:nvSpPr>
        <p:spPr>
          <a:xfrm>
            <a:off x="1051560" y="257860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7252E"/>
                </a:solidFill>
              </a:rPr>
              <a:t>λ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casa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 =  exp( μ + ataque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− defesa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j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+ γ )</a:t>
            </a:r>
            <a:endParaRPr lang="en-US" sz="1700" dirty="0"/>
          </a:p>
        </p:txBody>
      </p:sp>
      <p:sp>
        <p:nvSpPr>
          <p:cNvPr id="6" name="eq-fora"/>
          <p:cNvSpPr txBox="1"/>
          <p:nvPr/>
        </p:nvSpPr>
        <p:spPr>
          <a:xfrm>
            <a:off x="1051560" y="3017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7252E"/>
                </a:solidFill>
              </a:rPr>
              <a:t>λ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fora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 =  exp( μ + ataque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j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− defesa</a:t>
            </a:r>
            <a:pPr indent="0" marL="0">
              <a:buNone/>
            </a:pPr>
            <a:r>
              <a:rPr lang="en-US" sz="1700" baseline="-40000" dirty="0">
                <a:solidFill>
                  <a:srgbClr val="17252E"/>
                </a:solidFill>
              </a:rPr>
              <a:t>i</a:t>
            </a:r>
            <a:pPr indent="0" marL="0">
              <a:buNone/>
            </a:pPr>
            <a:r>
              <a:rPr lang="en-US" sz="1700" dirty="0">
                <a:solidFill>
                  <a:srgbClr val="17252E"/>
                </a:solidFill>
              </a:rPr>
              <a:t> )</a:t>
            </a:r>
            <a:endParaRPr lang="en-US" sz="1700" dirty="0"/>
          </a:p>
        </p:txBody>
      </p:sp>
      <p:sp>
        <p:nvSpPr>
          <p:cNvPr id="7" name="stat-num-de gols atribuívei"/>
          <p:cNvSpPr txBox="1"/>
          <p:nvPr/>
        </p:nvSpPr>
        <p:spPr>
          <a:xfrm>
            <a:off x="7040880" y="2340864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17252E"/>
                </a:solidFill>
              </a:rPr>
              <a:t>+21,7%</a:t>
            </a:r>
            <a:endParaRPr lang="en-US" sz="4600" dirty="0"/>
          </a:p>
        </p:txBody>
      </p:sp>
      <p:sp>
        <p:nvSpPr>
          <p:cNvPr id="8" name="stat-rot-de gols atribuívei"/>
          <p:cNvSpPr txBox="1"/>
          <p:nvPr/>
        </p:nvSpPr>
        <p:spPr>
          <a:xfrm>
            <a:off x="7040880" y="3072384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de gols atribuíveis ao mando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5A6670"/>
                </a:solidFill>
              </a:rPr>
              <a:t>γ = 0,1967 · IC [0,1605; 0,2329]</a:t>
            </a:r>
            <a:endParaRPr lang="en-US" sz="1300" dirty="0"/>
          </a:p>
        </p:txBody>
      </p:sp>
      <p:sp>
        <p:nvSpPr>
          <p:cNvPr id="9" name="lista"/>
          <p:cNvSpPr txBox="1"/>
          <p:nvPr/>
        </p:nvSpPr>
        <p:spPr>
          <a:xfrm>
            <a:off x="731520" y="4059936"/>
            <a:ext cx="9875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γ é estimado junto com a força de todos os clubes: mede a vantagem já descontada a qualidade do adversário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A escala é multiplicativa, portanto comparável entre clubes de patamares distintos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Validado por recuperação de parâmetro: 40 simulações com γ conhecido, cobertura de 97,5%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O fator casa ajustado, temporada a temporada</a:t>
            </a:r>
            <a:endParaRPr lang="en-US" sz="3000" dirty="0"/>
          </a:p>
        </p:txBody>
      </p:sp>
      <p:pic>
        <p:nvPicPr>
          <p:cNvPr id="3" name="fig-gamma" descr="/home/user/TCC2/figuras/mando_ajustado_por_tempor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17904"/>
            <a:ext cx="6675120" cy="3758184"/>
          </a:xfrm>
          <a:prstGeom prst="rect">
            <a:avLst/>
          </a:prstGeom>
        </p:spPr>
      </p:pic>
      <p:sp>
        <p:nvSpPr>
          <p:cNvPr id="4" name="cartao-2020/21"/>
          <p:cNvSpPr/>
          <p:nvPr/>
        </p:nvSpPr>
        <p:spPr>
          <a:xfrm>
            <a:off x="7772400" y="1517904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5" name="cartao-tit-2020/21"/>
          <p:cNvSpPr txBox="1"/>
          <p:nvPr/>
        </p:nvSpPr>
        <p:spPr>
          <a:xfrm>
            <a:off x="8046720" y="17556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2020/21</a:t>
            </a:r>
            <a:endParaRPr lang="en-US" sz="1600" dirty="0"/>
          </a:p>
        </p:txBody>
      </p:sp>
      <p:sp>
        <p:nvSpPr>
          <p:cNvPr id="6" name="cartao-corpo-2020/21"/>
          <p:cNvSpPr txBox="1"/>
          <p:nvPr/>
        </p:nvSpPr>
        <p:spPr>
          <a:xfrm>
            <a:off x="8046720" y="2176272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γ = 0,007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IC [−0,115; 0,129]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Sem vantagem detectável.</a:t>
            </a:r>
            <a:endParaRPr lang="en-US" sz="1350" dirty="0"/>
          </a:p>
        </p:txBody>
      </p:sp>
      <p:sp>
        <p:nvSpPr>
          <p:cNvPr id="7" name="cartao-2024/25"/>
          <p:cNvSpPr/>
          <p:nvPr/>
        </p:nvSpPr>
        <p:spPr>
          <a:xfrm>
            <a:off x="7772400" y="3447288"/>
            <a:ext cx="2834640" cy="1828800"/>
          </a:xfrm>
          <a:prstGeom prst="roundRect">
            <a:avLst>
              <a:gd name="adj" fmla="val 400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cartao-tit-2024/25"/>
          <p:cNvSpPr txBox="1"/>
          <p:nvPr/>
        </p:nvSpPr>
        <p:spPr>
          <a:xfrm>
            <a:off x="8046720" y="36850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2024/25</a:t>
            </a:r>
            <a:endParaRPr lang="en-US" sz="1600" dirty="0"/>
          </a:p>
        </p:txBody>
      </p:sp>
      <p:sp>
        <p:nvSpPr>
          <p:cNvPr id="9" name="cartao-corpo-2024/25"/>
          <p:cNvSpPr txBox="1"/>
          <p:nvPr/>
        </p:nvSpPr>
        <p:spPr>
          <a:xfrm>
            <a:off x="8046720" y="4105656"/>
            <a:ext cx="2286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γ = 0,063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IC [−0,055; 0,180]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Sem relação com a pandemia.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Questão em aberto.</a:t>
            </a:r>
            <a:endParaRPr lang="en-US" sz="1350" dirty="0"/>
          </a:p>
        </p:txBody>
      </p:sp>
      <p:sp>
        <p:nvSpPr>
          <p:cNvPr id="10" name="legenda"/>
          <p:cNvSpPr txBox="1"/>
          <p:nvPr/>
        </p:nvSpPr>
        <p:spPr>
          <a:xfrm>
            <a:off x="731520" y="539496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C"/>
                </a:solidFill>
              </a:rPr>
              <a:t>Os intervalos da maioria das temporadas se sobrepõem: o padrão é variabilidade alta em torno de um nível estável, com dois vales — não uma tendência monotônica de queda.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O público explica a queda de 2020/21?</a:t>
            </a:r>
            <a:endParaRPr lang="en-US" sz="3000" dirty="0"/>
          </a:p>
        </p:txBody>
      </p:sp>
      <p:pic>
        <p:nvPicPr>
          <p:cNvPr id="3" name="fig-publico" descr="/home/user/TCC2/figuras/contraste_publ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81328"/>
            <a:ext cx="5943600" cy="2688336"/>
          </a:xfrm>
          <a:prstGeom prst="rect">
            <a:avLst/>
          </a:prstGeom>
        </p:spPr>
      </p:pic>
      <p:sp>
        <p:nvSpPr>
          <p:cNvPr id="4" name="pub-fundo"/>
          <p:cNvSpPr/>
          <p:nvPr/>
        </p:nvSpPr>
        <p:spPr>
          <a:xfrm>
            <a:off x="7040880" y="1517904"/>
            <a:ext cx="3566160" cy="2615184"/>
          </a:xfrm>
          <a:prstGeom prst="roundRect">
            <a:avLst>
              <a:gd name="adj" fmla="val 2797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5" name="pub-tit"/>
          <p:cNvSpPr txBox="1"/>
          <p:nvPr/>
        </p:nvSpPr>
        <p:spPr>
          <a:xfrm>
            <a:off x="731520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CF07"/>
                </a:solidFill>
              </a:rPr>
              <a:t>O contraste decisivo</a:t>
            </a:r>
            <a:endParaRPr lang="en-US" sz="1500" dirty="0"/>
          </a:p>
        </p:txBody>
      </p:sp>
      <p:sp>
        <p:nvSpPr>
          <p:cNvPr id="6" name="pub-sub"/>
          <p:cNvSpPr txBox="1"/>
          <p:nvPr/>
        </p:nvSpPr>
        <p:spPr>
          <a:xfrm>
            <a:off x="7315200" y="206654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</a:rPr>
              <a:t>Dentro da temporada 2019/20 — mesmos elencos, mesmo calendário, mesmo regulamento:</a:t>
            </a:r>
            <a:endParaRPr lang="en-US" sz="1300" dirty="0"/>
          </a:p>
        </p:txBody>
      </p:sp>
      <p:sp>
        <p:nvSpPr>
          <p:cNvPr id="7" name="pub-n-0"/>
          <p:cNvSpPr txBox="1"/>
          <p:nvPr/>
        </p:nvSpPr>
        <p:spPr>
          <a:xfrm>
            <a:off x="7315200" y="2724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Sem público</a:t>
            </a:r>
            <a:endParaRPr lang="en-US" sz="1350" dirty="0"/>
          </a:p>
        </p:txBody>
      </p:sp>
      <p:sp>
        <p:nvSpPr>
          <p:cNvPr id="8" name="pub-v-0"/>
          <p:cNvSpPr txBox="1"/>
          <p:nvPr/>
        </p:nvSpPr>
        <p:spPr>
          <a:xfrm>
            <a:off x="8686800" y="272491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ECF07"/>
                </a:solidFill>
              </a:rPr>
              <a:t>+0,457</a:t>
            </a:r>
            <a:endParaRPr lang="en-US" sz="1800" dirty="0"/>
          </a:p>
        </p:txBody>
      </p:sp>
      <p:sp>
        <p:nvSpPr>
          <p:cNvPr id="9" name="pub-j-0"/>
          <p:cNvSpPr txBox="1"/>
          <p:nvPr/>
        </p:nvSpPr>
        <p:spPr>
          <a:xfrm>
            <a:off x="9692640" y="2724912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9C"/>
                </a:solidFill>
              </a:rPr>
              <a:t>92 jogos</a:t>
            </a:r>
            <a:endParaRPr lang="en-US" sz="1100" dirty="0"/>
          </a:p>
        </p:txBody>
      </p:sp>
      <p:sp>
        <p:nvSpPr>
          <p:cNvPr id="10" name="pub-n-1"/>
          <p:cNvSpPr txBox="1"/>
          <p:nvPr/>
        </p:nvSpPr>
        <p:spPr>
          <a:xfrm>
            <a:off x="731520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Com público</a:t>
            </a:r>
            <a:endParaRPr lang="en-US" sz="1350" dirty="0"/>
          </a:p>
        </p:txBody>
      </p:sp>
      <p:sp>
        <p:nvSpPr>
          <p:cNvPr id="11" name="pub-v-1"/>
          <p:cNvSpPr txBox="1"/>
          <p:nvPr/>
        </p:nvSpPr>
        <p:spPr>
          <a:xfrm>
            <a:off x="8686800" y="3291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ECF07"/>
                </a:solidFill>
              </a:rPr>
              <a:t>+0,438</a:t>
            </a:r>
            <a:endParaRPr lang="en-US" sz="1800" dirty="0"/>
          </a:p>
        </p:txBody>
      </p:sp>
      <p:sp>
        <p:nvSpPr>
          <p:cNvPr id="12" name="pub-j-1"/>
          <p:cNvSpPr txBox="1"/>
          <p:nvPr/>
        </p:nvSpPr>
        <p:spPr>
          <a:xfrm>
            <a:off x="9692640" y="32918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49C"/>
                </a:solidFill>
              </a:rPr>
              <a:t>288 jogos</a:t>
            </a:r>
            <a:endParaRPr lang="en-US" sz="1100" dirty="0"/>
          </a:p>
        </p:txBody>
      </p:sp>
      <p:sp>
        <p:nvSpPr>
          <p:cNvPr id="13" name="pub-conclusao"/>
          <p:cNvSpPr txBox="1"/>
          <p:nvPr/>
        </p:nvSpPr>
        <p:spPr>
          <a:xfrm>
            <a:off x="731520" y="4352544"/>
            <a:ext cx="9875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A6670"/>
                </a:solidFill>
              </a:rPr>
              <a:t>A vantagem não caiu com a ausência de torcida (p = 0,952 no contraste descritivo; p = 0,680 no modelo ajustado). A inversão ocorre apenas em 2020/21, temporada que diferiu das anteriores também em pré-temporada, calendário e número de substituições.</a:t>
            </a:r>
            <a:endParaRPr lang="en-US" sz="1450" dirty="0"/>
          </a:p>
        </p:txBody>
      </p:sp>
      <p:sp>
        <p:nvSpPr>
          <p:cNvPr id="14" name="legenda"/>
          <p:cNvSpPr txBox="1"/>
          <p:nvPr/>
        </p:nvSpPr>
        <p:spPr>
          <a:xfrm>
            <a:off x="731520" y="523036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C"/>
                </a:solidFill>
              </a:rPr>
              <a:t>Alcance da conclusão: o intervalo de 2019/20 ainda contém o valor estimado no agregado — os dados não excluem o efeito, mas mostram que a evidência repousa sobre uma única temporada atípica.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Achado: arbitragem e resultado se dissociam</a:t>
            </a:r>
            <a:endParaRPr lang="en-US" sz="3000" dirty="0"/>
          </a:p>
        </p:txBody>
      </p:sp>
      <p:sp>
        <p:nvSpPr>
          <p:cNvPr id="3" name="diss-intro"/>
          <p:cNvSpPr txBox="1"/>
          <p:nvPr/>
        </p:nvSpPr>
        <p:spPr>
          <a:xfrm>
            <a:off x="731520" y="1463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0"/>
                </a:solidFill>
              </a:rPr>
              <a:t>A coluna de cartões amarelos permite uma distinção que o diferencial de pontos, isoladamente, não permitiria.</a:t>
            </a:r>
            <a:endParaRPr lang="en-US" sz="1500" dirty="0"/>
          </a:p>
        </p:txBody>
      </p:sp>
      <p:sp>
        <p:nvSpPr>
          <p:cNvPr id="4" name="diss-h0"/>
          <p:cNvSpPr txBox="1"/>
          <p:nvPr/>
        </p:nvSpPr>
        <p:spPr>
          <a:xfrm>
            <a:off x="731520" y="2011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949C"/>
                </a:solidFill>
              </a:rPr>
              <a:t>Cenário</a:t>
            </a:r>
            <a:endParaRPr lang="en-US" sz="1300" dirty="0"/>
          </a:p>
        </p:txBody>
      </p:sp>
      <p:sp>
        <p:nvSpPr>
          <p:cNvPr id="5" name="diss-h1"/>
          <p:cNvSpPr txBox="1"/>
          <p:nvPr/>
        </p:nvSpPr>
        <p:spPr>
          <a:xfrm>
            <a:off x="3657600" y="2011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9C"/>
                </a:solidFill>
              </a:rPr>
              <a:t>Diferencial de cartões</a:t>
            </a:r>
            <a:endParaRPr lang="en-US" sz="1300" dirty="0"/>
          </a:p>
        </p:txBody>
      </p:sp>
      <p:sp>
        <p:nvSpPr>
          <p:cNvPr id="6" name="diss-h2"/>
          <p:cNvSpPr txBox="1"/>
          <p:nvPr/>
        </p:nvSpPr>
        <p:spPr>
          <a:xfrm>
            <a:off x="7040880" y="201168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949C"/>
                </a:solidFill>
              </a:rPr>
              <a:t>Diferencial de pontos</a:t>
            </a:r>
            <a:endParaRPr lang="en-US" sz="1300" dirty="0"/>
          </a:p>
        </p:txBody>
      </p:sp>
      <p:sp>
        <p:nvSpPr>
          <p:cNvPr id="7" name="diss-r-0"/>
          <p:cNvSpPr/>
          <p:nvPr/>
        </p:nvSpPr>
        <p:spPr>
          <a:xfrm>
            <a:off x="731520" y="2395728"/>
            <a:ext cx="9418320" cy="768096"/>
          </a:xfrm>
          <a:prstGeom prst="roundRect">
            <a:avLst>
              <a:gd name="adj" fmla="val 7143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8" name="diss-n-0"/>
          <p:cNvSpPr txBox="1"/>
          <p:nvPr/>
        </p:nvSpPr>
        <p:spPr>
          <a:xfrm>
            <a:off x="1005840" y="2395728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3A45"/>
                </a:solidFill>
              </a:rPr>
              <a:t>2019/20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2B3A45"/>
                </a:solidFill>
              </a:rPr>
              <a:t>com público</a:t>
            </a:r>
            <a:endParaRPr lang="en-US" sz="1350" dirty="0"/>
          </a:p>
        </p:txBody>
      </p:sp>
      <p:sp>
        <p:nvSpPr>
          <p:cNvPr id="9" name="diss-c-0"/>
          <p:cNvSpPr txBox="1"/>
          <p:nvPr/>
        </p:nvSpPr>
        <p:spPr>
          <a:xfrm>
            <a:off x="3657600" y="239572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252E"/>
                </a:solidFill>
              </a:rPr>
              <a:t>−0,247</a:t>
            </a:r>
            <a:endParaRPr lang="en-US" sz="2000" dirty="0"/>
          </a:p>
        </p:txBody>
      </p:sp>
      <p:sp>
        <p:nvSpPr>
          <p:cNvPr id="10" name="diss-p-0"/>
          <p:cNvSpPr txBox="1"/>
          <p:nvPr/>
        </p:nvSpPr>
        <p:spPr>
          <a:xfrm>
            <a:off x="7040880" y="2395728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3A45"/>
                </a:solidFill>
              </a:rPr>
              <a:t>+0,438</a:t>
            </a:r>
            <a:endParaRPr lang="en-US" sz="2000" dirty="0"/>
          </a:p>
        </p:txBody>
      </p:sp>
      <p:sp>
        <p:nvSpPr>
          <p:cNvPr id="11" name="diss-r-1"/>
          <p:cNvSpPr/>
          <p:nvPr/>
        </p:nvSpPr>
        <p:spPr>
          <a:xfrm>
            <a:off x="731520" y="3273552"/>
            <a:ext cx="9418320" cy="768096"/>
          </a:xfrm>
          <a:prstGeom prst="roundRect">
            <a:avLst>
              <a:gd name="adj" fmla="val 7143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2" name="diss-n-1"/>
          <p:cNvSpPr txBox="1"/>
          <p:nvPr/>
        </p:nvSpPr>
        <p:spPr>
          <a:xfrm>
            <a:off x="1005840" y="3273552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2019/20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sem público</a:t>
            </a:r>
            <a:endParaRPr lang="en-US" sz="1350" dirty="0"/>
          </a:p>
        </p:txBody>
      </p:sp>
      <p:sp>
        <p:nvSpPr>
          <p:cNvPr id="13" name="diss-c-1"/>
          <p:cNvSpPr txBox="1"/>
          <p:nvPr/>
        </p:nvSpPr>
        <p:spPr>
          <a:xfrm>
            <a:off x="3657600" y="32735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CF07"/>
                </a:solidFill>
              </a:rPr>
              <a:t>+0,033</a:t>
            </a:r>
            <a:endParaRPr lang="en-US" sz="2000" dirty="0"/>
          </a:p>
        </p:txBody>
      </p:sp>
      <p:sp>
        <p:nvSpPr>
          <p:cNvPr id="14" name="diss-p-1"/>
          <p:cNvSpPr txBox="1"/>
          <p:nvPr/>
        </p:nvSpPr>
        <p:spPr>
          <a:xfrm>
            <a:off x="7040880" y="3273552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+0,457</a:t>
            </a:r>
            <a:endParaRPr lang="en-US" sz="2000" dirty="0"/>
          </a:p>
        </p:txBody>
      </p:sp>
      <p:sp>
        <p:nvSpPr>
          <p:cNvPr id="15" name="diss-r-2"/>
          <p:cNvSpPr/>
          <p:nvPr/>
        </p:nvSpPr>
        <p:spPr>
          <a:xfrm>
            <a:off x="731520" y="4151376"/>
            <a:ext cx="9418320" cy="768096"/>
          </a:xfrm>
          <a:prstGeom prst="roundRect">
            <a:avLst>
              <a:gd name="adj" fmla="val 7143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6" name="diss-n-2"/>
          <p:cNvSpPr txBox="1"/>
          <p:nvPr/>
        </p:nvSpPr>
        <p:spPr>
          <a:xfrm>
            <a:off x="1005840" y="4151376"/>
            <a:ext cx="2560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2020/21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sem público</a:t>
            </a:r>
            <a:endParaRPr lang="en-US" sz="1350" dirty="0"/>
          </a:p>
        </p:txBody>
      </p:sp>
      <p:sp>
        <p:nvSpPr>
          <p:cNvPr id="17" name="diss-c-2"/>
          <p:cNvSpPr txBox="1"/>
          <p:nvPr/>
        </p:nvSpPr>
        <p:spPr>
          <a:xfrm>
            <a:off x="3657600" y="41513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ECF07"/>
                </a:solidFill>
              </a:rPr>
              <a:t>+0,034</a:t>
            </a:r>
            <a:endParaRPr lang="en-US" sz="2000" dirty="0"/>
          </a:p>
        </p:txBody>
      </p:sp>
      <p:sp>
        <p:nvSpPr>
          <p:cNvPr id="18" name="diss-p-2"/>
          <p:cNvSpPr txBox="1"/>
          <p:nvPr/>
        </p:nvSpPr>
        <p:spPr>
          <a:xfrm>
            <a:off x="7040880" y="4151376"/>
            <a:ext cx="3108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−0,119</a:t>
            </a:r>
            <a:endParaRPr lang="en-US" sz="2000" dirty="0"/>
          </a:p>
        </p:txBody>
      </p:sp>
      <p:sp>
        <p:nvSpPr>
          <p:cNvPr id="19" name="diss-conc"/>
          <p:cNvSpPr txBox="1"/>
          <p:nvPr/>
        </p:nvSpPr>
        <p:spPr>
          <a:xfrm>
            <a:off x="731520" y="508406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17252E"/>
                </a:solidFill>
              </a:rPr>
              <a:t>O viés disciplinar favorável ao mandante desaparece sem público já em 2019/20 — mesma temporada em que a vantagem em pontos permaneceu inalterada. A torcida parece influenciar a arbitragem, mas esse viés não é o mecanismo que sustenta a vantagem em resultados.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Modelagem preditiva: o risco antes do resultado</a:t>
            </a:r>
            <a:endParaRPr lang="en-US" sz="3000" dirty="0"/>
          </a:p>
        </p:txBody>
      </p:sp>
      <p:sp>
        <p:nvSpPr>
          <p:cNvPr id="3" name="vaz-fundo"/>
          <p:cNvSpPr/>
          <p:nvPr/>
        </p:nvSpPr>
        <p:spPr>
          <a:xfrm>
            <a:off x="731520" y="1481328"/>
            <a:ext cx="9875520" cy="1024128"/>
          </a:xfrm>
          <a:prstGeom prst="roundRect">
            <a:avLst>
              <a:gd name="adj" fmla="val 7143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4" name="vaz-texto"/>
          <p:cNvSpPr txBox="1"/>
          <p:nvPr/>
        </p:nvSpPr>
        <p:spPr>
          <a:xfrm>
            <a:off x="1097280" y="1591056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</a:rPr>
              <a:t>Finalizações, escanteios e faltas só existem depois do apito final. Usá-las como variáveis explicativas produziria acurácia alta e um trabalho errado.</a:t>
            </a:r>
            <a:endParaRPr lang="en-US" sz="1600" dirty="0"/>
          </a:p>
        </p:txBody>
      </p:sp>
      <p:sp>
        <p:nvSpPr>
          <p:cNvPr id="5" name="cartao-Features pré-jogo"/>
          <p:cNvSpPr/>
          <p:nvPr/>
        </p:nvSpPr>
        <p:spPr>
          <a:xfrm>
            <a:off x="731520" y="2706624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6" name="bolha-Features pré-j"/>
          <p:cNvSpPr/>
          <p:nvPr/>
        </p:nvSpPr>
        <p:spPr>
          <a:xfrm>
            <a:off x="969264" y="2926080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7" name="bolha-num-Features pré-j"/>
          <p:cNvSpPr txBox="1"/>
          <p:nvPr/>
        </p:nvSpPr>
        <p:spPr>
          <a:xfrm>
            <a:off x="969264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cartao-tit-Features pré-j"/>
          <p:cNvSpPr txBox="1"/>
          <p:nvPr/>
        </p:nvSpPr>
        <p:spPr>
          <a:xfrm>
            <a:off x="1517904" y="2944368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Features pré-jogo</a:t>
            </a:r>
            <a:endParaRPr lang="en-US" sz="1600" dirty="0"/>
          </a:p>
        </p:txBody>
      </p:sp>
      <p:sp>
        <p:nvSpPr>
          <p:cNvPr id="9" name="cartao-corpo-Features pré-j"/>
          <p:cNvSpPr txBox="1"/>
          <p:nvPr/>
        </p:nvSpPr>
        <p:spPr>
          <a:xfrm>
            <a:off x="1005840" y="3364992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Rating Elo, forma recente, forma por mando, dias de descanso, rodada e regime de público.</a:t>
            </a:r>
            <a:endParaRPr lang="en-US" sz="1350" dirty="0"/>
          </a:p>
        </p:txBody>
      </p:sp>
      <p:sp>
        <p:nvSpPr>
          <p:cNvPr id="10" name="cartao-Trava experimental"/>
          <p:cNvSpPr/>
          <p:nvPr/>
        </p:nvSpPr>
        <p:spPr>
          <a:xfrm>
            <a:off x="4096512" y="2706624"/>
            <a:ext cx="3154680" cy="1920240"/>
          </a:xfrm>
          <a:prstGeom prst="roundRect">
            <a:avLst>
              <a:gd name="adj" fmla="val 381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bolha-Trava experime"/>
          <p:cNvSpPr/>
          <p:nvPr/>
        </p:nvSpPr>
        <p:spPr>
          <a:xfrm>
            <a:off x="4334256" y="2926080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2" name="bolha-num-Trava experime"/>
          <p:cNvSpPr txBox="1"/>
          <p:nvPr/>
        </p:nvSpPr>
        <p:spPr>
          <a:xfrm>
            <a:off x="4334256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cartao-tit-Trava experime"/>
          <p:cNvSpPr txBox="1"/>
          <p:nvPr/>
        </p:nvSpPr>
        <p:spPr>
          <a:xfrm>
            <a:off x="4882896" y="2944368"/>
            <a:ext cx="2093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Trava experimental</a:t>
            </a:r>
            <a:endParaRPr lang="en-US" sz="1600" dirty="0"/>
          </a:p>
        </p:txBody>
      </p:sp>
      <p:sp>
        <p:nvSpPr>
          <p:cNvPr id="14" name="cartao-corpo-Trava experime"/>
          <p:cNvSpPr txBox="1"/>
          <p:nvPr/>
        </p:nvSpPr>
        <p:spPr>
          <a:xfrm>
            <a:off x="4370832" y="3364992"/>
            <a:ext cx="2606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Altera o placar de uma partida, reconstrói tudo e exige que nenhuma feature daquela partida se mova.</a:t>
            </a:r>
            <a:endParaRPr lang="en-US" sz="1350" dirty="0"/>
          </a:p>
        </p:txBody>
      </p:sp>
      <p:sp>
        <p:nvSpPr>
          <p:cNvPr id="15" name="cartao-Validação temporal"/>
          <p:cNvSpPr/>
          <p:nvPr/>
        </p:nvSpPr>
        <p:spPr>
          <a:xfrm>
            <a:off x="7461504" y="2706624"/>
            <a:ext cx="3145536" cy="1920240"/>
          </a:xfrm>
          <a:prstGeom prst="roundRect">
            <a:avLst>
              <a:gd name="adj" fmla="val 3810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6" name="bolha-Validação temp"/>
          <p:cNvSpPr/>
          <p:nvPr/>
        </p:nvSpPr>
        <p:spPr>
          <a:xfrm>
            <a:off x="7699248" y="2926080"/>
            <a:ext cx="402336" cy="402336"/>
          </a:xfrm>
          <a:prstGeom prst="ellipse">
            <a:avLst/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17" name="bolha-num-Validação temp"/>
          <p:cNvSpPr txBox="1"/>
          <p:nvPr/>
        </p:nvSpPr>
        <p:spPr>
          <a:xfrm>
            <a:off x="7699248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cartao-tit-Validação temp"/>
          <p:cNvSpPr txBox="1"/>
          <p:nvPr/>
        </p:nvSpPr>
        <p:spPr>
          <a:xfrm>
            <a:off x="8247888" y="2944368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52E"/>
                </a:solidFill>
              </a:rPr>
              <a:t>Validação temporal</a:t>
            </a:r>
            <a:endParaRPr lang="en-US" sz="1600" dirty="0"/>
          </a:p>
        </p:txBody>
      </p:sp>
      <p:sp>
        <p:nvSpPr>
          <p:cNvPr id="19" name="cartao-corpo-Validação temp"/>
          <p:cNvSpPr txBox="1"/>
          <p:nvPr/>
        </p:nvSpPr>
        <p:spPr>
          <a:xfrm>
            <a:off x="7735824" y="3364992"/>
            <a:ext cx="259689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A6670"/>
                </a:solidFill>
              </a:rPr>
              <a:t>Para prever uma temporada, o treino usa apenas partidas anteriores. Todos os modelos reajustam sobre o mesmo histórico.</a:t>
            </a:r>
            <a:endParaRPr lang="en-US" sz="1350" dirty="0"/>
          </a:p>
        </p:txBody>
      </p:sp>
      <p:sp>
        <p:nvSpPr>
          <p:cNvPr id="20" name="vaz-nota"/>
          <p:cNvSpPr txBox="1"/>
          <p:nvPr/>
        </p:nvSpPr>
        <p:spPr>
          <a:xfrm>
            <a:off x="731520" y="480974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49C"/>
                </a:solidFill>
              </a:rPr>
              <a:t>Um contra-teste exige que as partidas seguintes mudem, para impedir que o primeiro seja satisfeito trivialmente.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O modelo estatístico superou os de aprendizado de máquina</a:t>
            </a:r>
            <a:endParaRPr lang="en-US" sz="3000" dirty="0"/>
          </a:p>
        </p:txBody>
      </p:sp>
      <p:sp>
        <p:nvSpPr>
          <p:cNvPr id="3" name="pred-h0"/>
          <p:cNvSpPr txBox="1"/>
          <p:nvPr/>
        </p:nvSpPr>
        <p:spPr>
          <a:xfrm>
            <a:off x="731520" y="1517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949C"/>
                </a:solidFill>
              </a:rPr>
              <a:t>Modelo</a:t>
            </a:r>
            <a:endParaRPr lang="en-US" sz="1250" dirty="0"/>
          </a:p>
        </p:txBody>
      </p:sp>
      <p:sp>
        <p:nvSpPr>
          <p:cNvPr id="4" name="pred-h1"/>
          <p:cNvSpPr txBox="1"/>
          <p:nvPr/>
        </p:nvSpPr>
        <p:spPr>
          <a:xfrm>
            <a:off x="3749040" y="1517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A949C"/>
                </a:solidFill>
              </a:rPr>
              <a:t>Log-loss</a:t>
            </a:r>
            <a:endParaRPr lang="en-US" sz="1250" dirty="0"/>
          </a:p>
        </p:txBody>
      </p:sp>
      <p:sp>
        <p:nvSpPr>
          <p:cNvPr id="5" name="pred-h2"/>
          <p:cNvSpPr txBox="1"/>
          <p:nvPr/>
        </p:nvSpPr>
        <p:spPr>
          <a:xfrm>
            <a:off x="5257800" y="15179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A949C"/>
                </a:solidFill>
              </a:rPr>
              <a:t>Acurácia</a:t>
            </a:r>
            <a:endParaRPr lang="en-US" sz="1250" dirty="0"/>
          </a:p>
        </p:txBody>
      </p:sp>
      <p:sp>
        <p:nvSpPr>
          <p:cNvPr id="6" name="pred-r-0"/>
          <p:cNvSpPr/>
          <p:nvPr/>
        </p:nvSpPr>
        <p:spPr>
          <a:xfrm>
            <a:off x="731520" y="1847088"/>
            <a:ext cx="5806440" cy="512064"/>
          </a:xfrm>
          <a:prstGeom prst="roundRect">
            <a:avLst>
              <a:gd name="adj" fmla="val 8929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7" name="pred-n-0"/>
          <p:cNvSpPr txBox="1"/>
          <p:nvPr/>
        </p:nvSpPr>
        <p:spPr>
          <a:xfrm>
            <a:off x="960120" y="184708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Dixon-Coles</a:t>
            </a:r>
            <a:endParaRPr lang="en-US" sz="1400" dirty="0"/>
          </a:p>
        </p:txBody>
      </p:sp>
      <p:sp>
        <p:nvSpPr>
          <p:cNvPr id="8" name="pred-l-0"/>
          <p:cNvSpPr txBox="1"/>
          <p:nvPr/>
        </p:nvSpPr>
        <p:spPr>
          <a:xfrm>
            <a:off x="3749040" y="1847088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ECF07"/>
                </a:solidFill>
              </a:rPr>
              <a:t>0,9762</a:t>
            </a:r>
            <a:endParaRPr lang="en-US" sz="1500" dirty="0"/>
          </a:p>
        </p:txBody>
      </p:sp>
      <p:sp>
        <p:nvSpPr>
          <p:cNvPr id="9" name="pred-a-0"/>
          <p:cNvSpPr txBox="1"/>
          <p:nvPr/>
        </p:nvSpPr>
        <p:spPr>
          <a:xfrm>
            <a:off x="5257800" y="1847088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53,6%</a:t>
            </a:r>
            <a:endParaRPr lang="en-US" sz="1400" dirty="0"/>
          </a:p>
        </p:txBody>
      </p:sp>
      <p:sp>
        <p:nvSpPr>
          <p:cNvPr id="10" name="pred-r-1"/>
          <p:cNvSpPr/>
          <p:nvPr/>
        </p:nvSpPr>
        <p:spPr>
          <a:xfrm>
            <a:off x="731520" y="2450592"/>
            <a:ext cx="5806440" cy="512064"/>
          </a:xfrm>
          <a:prstGeom prst="roundRect">
            <a:avLst>
              <a:gd name="adj" fmla="val 89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1" name="pred-n-1"/>
          <p:cNvSpPr txBox="1"/>
          <p:nvPr/>
        </p:nvSpPr>
        <p:spPr>
          <a:xfrm>
            <a:off x="960120" y="245059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5"/>
                </a:solidFill>
              </a:rPr>
              <a:t>Regressão logística</a:t>
            </a:r>
            <a:endParaRPr lang="en-US" sz="1400" dirty="0"/>
          </a:p>
        </p:txBody>
      </p:sp>
      <p:sp>
        <p:nvSpPr>
          <p:cNvPr id="12" name="pred-l-1"/>
          <p:cNvSpPr txBox="1"/>
          <p:nvPr/>
        </p:nvSpPr>
        <p:spPr>
          <a:xfrm>
            <a:off x="3749040" y="2450592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3A45"/>
                </a:solidFill>
              </a:rPr>
              <a:t>0,9880</a:t>
            </a:r>
            <a:endParaRPr lang="en-US" sz="1500" dirty="0"/>
          </a:p>
        </p:txBody>
      </p:sp>
      <p:sp>
        <p:nvSpPr>
          <p:cNvPr id="13" name="pred-a-1"/>
          <p:cNvSpPr txBox="1"/>
          <p:nvPr/>
        </p:nvSpPr>
        <p:spPr>
          <a:xfrm>
            <a:off x="5257800" y="2450592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670"/>
                </a:solidFill>
              </a:rPr>
              <a:t>53,6%</a:t>
            </a:r>
            <a:endParaRPr lang="en-US" sz="1400" dirty="0"/>
          </a:p>
        </p:txBody>
      </p:sp>
      <p:sp>
        <p:nvSpPr>
          <p:cNvPr id="14" name="pred-r-2"/>
          <p:cNvSpPr/>
          <p:nvPr/>
        </p:nvSpPr>
        <p:spPr>
          <a:xfrm>
            <a:off x="731520" y="3054096"/>
            <a:ext cx="5806440" cy="512064"/>
          </a:xfrm>
          <a:prstGeom prst="roundRect">
            <a:avLst>
              <a:gd name="adj" fmla="val 89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5" name="pred-n-2"/>
          <p:cNvSpPr txBox="1"/>
          <p:nvPr/>
        </p:nvSpPr>
        <p:spPr>
          <a:xfrm>
            <a:off x="960120" y="305409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5"/>
                </a:solidFill>
              </a:rPr>
              <a:t>Frequência base</a:t>
            </a:r>
            <a:endParaRPr lang="en-US" sz="1400" dirty="0"/>
          </a:p>
        </p:txBody>
      </p:sp>
      <p:sp>
        <p:nvSpPr>
          <p:cNvPr id="16" name="pred-l-2"/>
          <p:cNvSpPr txBox="1"/>
          <p:nvPr/>
        </p:nvSpPr>
        <p:spPr>
          <a:xfrm>
            <a:off x="3749040" y="3054096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3A45"/>
                </a:solidFill>
              </a:rPr>
              <a:t>1,0669</a:t>
            </a:r>
            <a:endParaRPr lang="en-US" sz="1500" dirty="0"/>
          </a:p>
        </p:txBody>
      </p:sp>
      <p:sp>
        <p:nvSpPr>
          <p:cNvPr id="17" name="pred-a-2"/>
          <p:cNvSpPr txBox="1"/>
          <p:nvPr/>
        </p:nvSpPr>
        <p:spPr>
          <a:xfrm>
            <a:off x="5257800" y="3054096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670"/>
                </a:solidFill>
              </a:rPr>
              <a:t>44,0%</a:t>
            </a:r>
            <a:endParaRPr lang="en-US" sz="1400" dirty="0"/>
          </a:p>
        </p:txBody>
      </p:sp>
      <p:sp>
        <p:nvSpPr>
          <p:cNvPr id="18" name="pred-r-3"/>
          <p:cNvSpPr/>
          <p:nvPr/>
        </p:nvSpPr>
        <p:spPr>
          <a:xfrm>
            <a:off x="731520" y="3657600"/>
            <a:ext cx="5806440" cy="512064"/>
          </a:xfrm>
          <a:prstGeom prst="roundRect">
            <a:avLst>
              <a:gd name="adj" fmla="val 8929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19" name="pred-n-3"/>
          <p:cNvSpPr txBox="1"/>
          <p:nvPr/>
        </p:nvSpPr>
        <p:spPr>
          <a:xfrm>
            <a:off x="960120" y="365760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3A45"/>
                </a:solidFill>
              </a:rPr>
              <a:t>Gradient boosting</a:t>
            </a:r>
            <a:endParaRPr lang="en-US" sz="1400" dirty="0"/>
          </a:p>
        </p:txBody>
      </p:sp>
      <p:sp>
        <p:nvSpPr>
          <p:cNvPr id="20" name="pred-l-3"/>
          <p:cNvSpPr txBox="1"/>
          <p:nvPr/>
        </p:nvSpPr>
        <p:spPr>
          <a:xfrm>
            <a:off x="3749040" y="3657600"/>
            <a:ext cx="1371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3A45"/>
                </a:solidFill>
              </a:rPr>
              <a:t>1,0807</a:t>
            </a:r>
            <a:endParaRPr lang="en-US" sz="1500" dirty="0"/>
          </a:p>
        </p:txBody>
      </p:sp>
      <p:sp>
        <p:nvSpPr>
          <p:cNvPr id="21" name="pred-a-3"/>
          <p:cNvSpPr txBox="1"/>
          <p:nvPr/>
        </p:nvSpPr>
        <p:spPr>
          <a:xfrm>
            <a:off x="5257800" y="3657600"/>
            <a:ext cx="1051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A6670"/>
                </a:solidFill>
              </a:rPr>
              <a:t>50,7%</a:t>
            </a:r>
            <a:endParaRPr lang="en-US" sz="1400" dirty="0"/>
          </a:p>
        </p:txBody>
      </p:sp>
      <p:pic>
        <p:nvPicPr>
          <p:cNvPr id="22" name="fig-calib" descr="/home/user/TCC2/figuras/preditivo_calibr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481328"/>
            <a:ext cx="3703320" cy="3465576"/>
          </a:xfrm>
          <a:prstGeom prst="rect">
            <a:avLst/>
          </a:prstGeom>
        </p:spPr>
      </p:pic>
      <p:sp>
        <p:nvSpPr>
          <p:cNvPr id="23" name="calib-fundo"/>
          <p:cNvSpPr/>
          <p:nvPr/>
        </p:nvSpPr>
        <p:spPr>
          <a:xfrm>
            <a:off x="731520" y="4352544"/>
            <a:ext cx="5806440" cy="1188720"/>
          </a:xfrm>
          <a:prstGeom prst="roundRect">
            <a:avLst>
              <a:gd name="adj" fmla="val 6154"/>
            </a:avLst>
          </a:prstGeom>
          <a:solidFill>
            <a:srgbClr val="F1F4F7"/>
          </a:solidFill>
          <a:ln w="12700">
            <a:solidFill>
              <a:srgbClr val="F1F4F7"/>
            </a:solidFill>
            <a:prstDash val="solid"/>
          </a:ln>
        </p:spPr>
      </p:sp>
      <p:sp>
        <p:nvSpPr>
          <p:cNvPr id="24" name="calib-texto"/>
          <p:cNvSpPr txBox="1"/>
          <p:nvPr/>
        </p:nvSpPr>
        <p:spPr>
          <a:xfrm>
            <a:off x="1005840" y="4480560"/>
            <a:ext cx="52578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52E"/>
                </a:solidFill>
              </a:rPr>
              <a:t>O gradient boosting tem acurácia melhor que a frequência base e log-loss pior. A calibração explica: quando prevê 94%, acerta 81%. Ele empurra as probabilidades para os extremos, o que eleva a acurácia e penaliza severamente o log-loss.</a:t>
            </a:r>
            <a:endParaRPr lang="en-US" sz="1350" dirty="0"/>
          </a:p>
        </p:txBody>
      </p:sp>
      <p:sp>
        <p:nvSpPr>
          <p:cNvPr id="25" name="legenda"/>
          <p:cNvSpPr txBox="1"/>
          <p:nvPr/>
        </p:nvSpPr>
        <p:spPr>
          <a:xfrm>
            <a:off x="6903720" y="4992624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9C"/>
                </a:solidFill>
              </a:rPr>
              <a:t>Fonte: autoria própria (2026).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Conclusões</a:t>
            </a:r>
            <a:endParaRPr lang="en-US" sz="3000" dirty="0"/>
          </a:p>
        </p:txBody>
      </p:sp>
      <p:sp>
        <p:nvSpPr>
          <p:cNvPr id="3" name="conc-h1"/>
          <p:cNvSpPr txBox="1"/>
          <p:nvPr/>
        </p:nvSpPr>
        <p:spPr>
          <a:xfrm>
            <a:off x="731520" y="1517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E"/>
                </a:solidFill>
              </a:rPr>
              <a:t>O que se mantém</a:t>
            </a:r>
            <a:endParaRPr lang="en-US" sz="1500" dirty="0"/>
          </a:p>
        </p:txBody>
      </p:sp>
      <p:sp>
        <p:nvSpPr>
          <p:cNvPr id="4" name="lista"/>
          <p:cNvSpPr txBox="1"/>
          <p:nvPr/>
        </p:nvSpPr>
        <p:spPr>
          <a:xfrm>
            <a:off x="731520" y="1883664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A45"/>
                </a:solidFill>
              </a:rPr>
              <a:t>A vantagem do mandante existe e é robusta: +21,7% de gols, já descontada a força do adversário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A45"/>
                </a:solidFill>
              </a:rPr>
              <a:t>O fenômeno é volume de oportunidades, não eficiência de finalização</a:t>
            </a:r>
            <a:endParaRPr lang="en-US" sz="1400" dirty="0"/>
          </a:p>
        </p:txBody>
      </p:sp>
      <p:sp>
        <p:nvSpPr>
          <p:cNvPr id="5" name="conc-h2"/>
          <p:cNvSpPr txBox="1"/>
          <p:nvPr/>
        </p:nvSpPr>
        <p:spPr>
          <a:xfrm>
            <a:off x="585216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E"/>
                </a:solidFill>
              </a:rPr>
              <a:t>O que mudou</a:t>
            </a:r>
            <a:endParaRPr lang="en-US" sz="1500" dirty="0"/>
          </a:p>
        </p:txBody>
      </p:sp>
      <p:sp>
        <p:nvSpPr>
          <p:cNvPr id="6" name="lista"/>
          <p:cNvSpPr txBox="1"/>
          <p:nvPr/>
        </p:nvSpPr>
        <p:spPr>
          <a:xfrm>
            <a:off x="5852160" y="1883664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A45"/>
                </a:solidFill>
              </a:rPr>
              <a:t>O Big Six não depende menos do mando — a diferença não é significativa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A45"/>
                </a:solidFill>
              </a:rPr>
              <a:t>Times de cima dependem mais, em gradiente monotônico por posição final</a:t>
            </a:r>
            <a:endParaRPr lang="en-US" sz="1400" dirty="0"/>
          </a:p>
          <a:p>
            <a:pPr marL="228600" indent="-228600">
              <a:lnSpc>
                <a:spcPct val="110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2B3A45"/>
                </a:solidFill>
              </a:rPr>
              <a:t>O público não explica a queda de 2020/21 no contraste intratemporada</a:t>
            </a:r>
            <a:endParaRPr lang="en-US" sz="1400" dirty="0"/>
          </a:p>
        </p:txBody>
      </p:sp>
      <p:sp>
        <p:nvSpPr>
          <p:cNvPr id="7" name="achado-fundo"/>
          <p:cNvSpPr/>
          <p:nvPr/>
        </p:nvSpPr>
        <p:spPr>
          <a:xfrm>
            <a:off x="731520" y="3749040"/>
            <a:ext cx="9875520" cy="1371600"/>
          </a:xfrm>
          <a:prstGeom prst="roundRect">
            <a:avLst>
              <a:gd name="adj" fmla="val 5333"/>
            </a:avLst>
          </a:prstGeom>
          <a:solidFill>
            <a:srgbClr val="17252E"/>
          </a:solidFill>
          <a:ln w="12700">
            <a:solidFill>
              <a:srgbClr val="17252E"/>
            </a:solidFill>
            <a:prstDash val="solid"/>
          </a:ln>
        </p:spPr>
      </p:sp>
      <p:sp>
        <p:nvSpPr>
          <p:cNvPr id="8" name="achado-tit"/>
          <p:cNvSpPr txBox="1"/>
          <p:nvPr/>
        </p:nvSpPr>
        <p:spPr>
          <a:xfrm>
            <a:off x="1097280" y="391363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CF07"/>
                </a:solidFill>
              </a:rPr>
              <a:t>Achado novo</a:t>
            </a:r>
            <a:endParaRPr lang="en-US" sz="1400" dirty="0"/>
          </a:p>
        </p:txBody>
      </p:sp>
      <p:sp>
        <p:nvSpPr>
          <p:cNvPr id="9" name="achado-corpo"/>
          <p:cNvSpPr txBox="1"/>
          <p:nvPr/>
        </p:nvSpPr>
        <p:spPr>
          <a:xfrm>
            <a:off x="1097280" y="4242816"/>
            <a:ext cx="9144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FFFFFF"/>
                </a:solidFill>
              </a:rPr>
              <a:t>O viés de arbitragem e a vantagem em resultados se dissociam: o primeiro desaparece sem público já em 2019/20, enquanto o segundo permanece. A torcida influencia a arbitragem, mas esse não é o mecanismo central do Fator Casa.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58368"/>
            <a:ext cx="9875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52E"/>
                </a:solidFill>
              </a:rPr>
              <a:t>Limitações e trabalhos futuros</a:t>
            </a:r>
            <a:endParaRPr lang="en-US" sz="3000" dirty="0"/>
          </a:p>
        </p:txBody>
      </p:sp>
      <p:sp>
        <p:nvSpPr>
          <p:cNvPr id="3" name="lim-h"/>
          <p:cNvSpPr txBox="1"/>
          <p:nvPr/>
        </p:nvSpPr>
        <p:spPr>
          <a:xfrm>
            <a:off x="731520" y="1517904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E"/>
                </a:solidFill>
              </a:rPr>
              <a:t>Limitações</a:t>
            </a:r>
            <a:endParaRPr lang="en-US" sz="1500" dirty="0"/>
          </a:p>
        </p:txBody>
      </p:sp>
      <p:sp>
        <p:nvSpPr>
          <p:cNvPr id="4" name="lista"/>
          <p:cNvSpPr txBox="1"/>
          <p:nvPr/>
        </p:nvSpPr>
        <p:spPr>
          <a:xfrm>
            <a:off x="731520" y="1938528"/>
            <a:ext cx="4663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Parâmetro de mando único para toda a liga, não estimado por clube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Ausência de variáveis de contexto: distância de viagem, horário e ocupação do estádio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Não foi possível construir o contraste intratemporada em 2020/21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Sem comparação com as probabilidades implícitas no mercado de apostas</a:t>
            </a:r>
            <a:endParaRPr lang="en-US" sz="1500" dirty="0"/>
          </a:p>
        </p:txBody>
      </p:sp>
      <p:sp>
        <p:nvSpPr>
          <p:cNvPr id="5" name="fut-h"/>
          <p:cNvSpPr txBox="1"/>
          <p:nvPr/>
        </p:nvSpPr>
        <p:spPr>
          <a:xfrm>
            <a:off x="5852160" y="15179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2E"/>
                </a:solidFill>
              </a:rPr>
              <a:t>Trabalhos futuros</a:t>
            </a:r>
            <a:endParaRPr lang="en-US" sz="1500" dirty="0"/>
          </a:p>
        </p:txBody>
      </p:sp>
      <p:sp>
        <p:nvSpPr>
          <p:cNvPr id="6" name="lista"/>
          <p:cNvSpPr txBox="1"/>
          <p:nvPr/>
        </p:nvSpPr>
        <p:spPr>
          <a:xfrm>
            <a:off x="5852160" y="1938528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Estimar o mando por clube com modelos hierárquicos e encolhimento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Incorporar distância de deslocamento e ocupação do estádio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Comparar com as odds de mercado como referência externa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Estender a outras ligas europeias</a:t>
            </a:r>
            <a:endParaRPr lang="en-US" sz="1500" dirty="0"/>
          </a:p>
          <a:p>
            <a:pPr marL="228600" indent="-228600">
              <a:lnSpc>
                <a:spcPct val="11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3A45"/>
                </a:solidFill>
              </a:rPr>
              <a:t>Investigar a temporada 2024/25, cujo parâmetro próximo de zero não tem explicação evidente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im-titulo"/>
          <p:cNvSpPr txBox="1"/>
          <p:nvPr/>
        </p:nvSpPr>
        <p:spPr>
          <a:xfrm>
            <a:off x="73152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7252E"/>
                </a:solidFill>
              </a:rPr>
              <a:t>Obrigado</a:t>
            </a:r>
            <a:endParaRPr lang="en-US" sz="5200" dirty="0"/>
          </a:p>
        </p:txBody>
      </p:sp>
      <p:sp>
        <p:nvSpPr>
          <p:cNvPr id="3" name="fim-marca"/>
          <p:cNvSpPr/>
          <p:nvPr/>
        </p:nvSpPr>
        <p:spPr>
          <a:xfrm>
            <a:off x="731520" y="3346704"/>
            <a:ext cx="1371600" cy="50292"/>
          </a:xfrm>
          <a:prstGeom prst="rect">
            <a:avLst/>
          </a:prstGeom>
          <a:solidFill>
            <a:srgbClr val="FECF07"/>
          </a:solidFill>
          <a:ln w="12700">
            <a:solidFill>
              <a:srgbClr val="FECF07"/>
            </a:solidFill>
            <a:prstDash val="solid"/>
          </a:ln>
        </p:spPr>
      </p:sp>
      <p:sp>
        <p:nvSpPr>
          <p:cNvPr id="4" name="fim-autor"/>
          <p:cNvSpPr txBox="1"/>
          <p:nvPr/>
        </p:nvSpPr>
        <p:spPr>
          <a:xfrm>
            <a:off x="731520" y="3621024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3A45"/>
                </a:solidFill>
              </a:rPr>
              <a:t>Matheus Ferreira Alphonse dos Anjos</a:t>
            </a:r>
            <a:endParaRPr lang="en-US" sz="1700" dirty="0"/>
          </a:p>
        </p:txBody>
      </p:sp>
      <p:sp>
        <p:nvSpPr>
          <p:cNvPr id="5" name="fim-orientador"/>
          <p:cNvSpPr txBox="1"/>
          <p:nvPr/>
        </p:nvSpPr>
        <p:spPr>
          <a:xfrm>
            <a:off x="731520" y="39502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670"/>
                </a:solidFill>
              </a:rPr>
              <a:t>Orientador: Prof. Dr. Francisco Pereira Junior</a:t>
            </a:r>
            <a:endParaRPr lang="en-US" sz="1500" dirty="0"/>
          </a:p>
        </p:txBody>
      </p:sp>
      <p:sp>
        <p:nvSpPr>
          <p:cNvPr id="6" name="fim-repo"/>
          <p:cNvSpPr txBox="1"/>
          <p:nvPr/>
        </p:nvSpPr>
        <p:spPr>
          <a:xfrm>
            <a:off x="731520" y="457200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9C"/>
                </a:solidFill>
              </a:rPr>
              <a:t>Código, dados e documentação: github.com/matheustm29/TCC2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TFPR TCC">
  <a:themeElements>
    <a:clrScheme name="UTFPR TCC">
      <a:dk1>
        <a:srgbClr val="17252E"/>
      </a:dk1>
      <a:lt1>
        <a:srgbClr val="FFFFFF"/>
      </a:lt1>
      <a:dk2>
        <a:srgbClr val="2B3A45"/>
      </a:dk2>
      <a:lt2>
        <a:srgbClr val="F1F4F7"/>
      </a:lt2>
      <a:accent1>
        <a:srgbClr val="17252E"/>
      </a:accent1>
      <a:accent2>
        <a:srgbClr val="FECF07"/>
      </a:accent2>
      <a:accent3>
        <a:srgbClr val="2A78D6"/>
      </a:accent3>
      <a:accent4>
        <a:srgbClr val="EB6834"/>
      </a:accent4>
      <a:accent5>
        <a:srgbClr val="5A6670"/>
      </a:accent5>
      <a:accent6>
        <a:srgbClr val="8A949C"/>
      </a:accent6>
      <a:hlink>
        <a:srgbClr val="2A78D6"/>
      </a:hlink>
      <a:folHlink>
        <a:srgbClr val="5A6670"/>
      </a:folHlink>
    </a:clrScheme>
    <a:fontScheme name="UTFPR TCC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Analise estatistica e quantitativa do Fator Casa na Premier League</dc:title>
  <dc:subject>PptxGenJS Presentation</dc:subject>
  <dc:creator>Matheus Ferreira Alphonse dos Anjos</dc:creator>
  <cp:lastModifiedBy>Matheus Ferreira Alphonse dos Anjos</cp:lastModifiedBy>
  <cp:revision>1</cp:revision>
  <dcterms:created xsi:type="dcterms:W3CDTF">2026-10-23T12:38:41Z</dcterms:created>
  <dcterms:modified xsi:type="dcterms:W3CDTF">2026-10-23T12:38:41Z</dcterms:modified>
</cp:coreProperties>
</file>